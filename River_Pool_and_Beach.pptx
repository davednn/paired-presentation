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ccf3f4-69e0-3276-b085-051549508b36}">
          <p14:sldIdLst>
            <p14:sldId id="256"/>
            <p14:sldId id="257"/>
            <p14:sldId id="258"/>
          </p14:sldIdLst>
        </p14:section>
        <p14:section name="Question" id="{5f97331c-7745-a5c9-518f-ab4cc5ab13af}">
          <p14:sldIdLst>
            <p14:sldId id="259"/>
          </p14:sldIdLst>
        </p14:section>
        <p14:section name="Literature" id="{5215bc7c-5f98-d8b2-a4ba-54af5fa21ebb}">
          <p14:sldIdLst>
            <p14:sldId id="260"/>
            <p14:sldId id="261"/>
            <p14:sldId id="262"/>
            <p14:sldId id="263"/>
          </p14:sldIdLst>
        </p14:section>
        <p14:section name="Research" id="{bd922ea5-99b8-eb2f-7bce-e011687f37d1}">
          <p14:sldIdLst>
            <p14:sldId id="264"/>
            <p14:sldId id="265"/>
            <p14:sldId id="266"/>
          </p14:sldIdLst>
        </p14:section>
        <p14:section name="Answer" id="{6f58889c-9c0b-e1e6-9ffc-be2686319577}">
          <p14:sldIdLst>
            <p14:sldId id="267"/>
            <p14:sldId id="268"/>
          </p14:sldIdLst>
        </p14:section>
        <p14:section name="References" id="{5f42d8a0-5623-1d0b-a906-45fc97b4609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93A"/>
                </a:solidFill>
                <a:latin typeface="+mn-lt"/>
              </a:defRPr>
            </a:pPr>
            <a:r>
              <a:rPr sz="1400" b="0" i="0" u="none" strike="noStrike">
                <a:solidFill>
                  <a:srgbClr val="10293A"/>
                </a:solidFill>
                <a:latin typeface="+mn-lt"/>
              </a:rPr>
              <a:t>Each sport’s share of Trove results, by decade</a:t>
            </a:r>
          </a:p>
        </c:rich>
      </c:tx>
      <c:layout/>
      <c:overlay val="0"/>
    </c:title>
    <c:autoTitleDeleted val="0"/>
    <c:plotArea>
      <c:layout/>
      <c:barChart>
        <c:barDir val="col"/>
        <c:grouping val="percentStacked"/>
        <c:varyColors val="0"/>
        <c:ser>
          <c:idx val="0"/>
          <c:order val="0"/>
          <c:tx>
            <c:strRef>
              <c:f>Sheet1!$B$1</c:f>
              <c:strCache>
                <c:ptCount val="1"/>
                <c:pt idx="0">
                  <c:v>Rowing</c:v>
                </c:pt>
              </c:strCache>
            </c:strRef>
          </c:tx>
          <c:spPr>
            <a:solidFill>
              <a:srgbClr val="1F5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1850s</c:v>
                  </c:pt>
                  <c:pt idx="1">
                    <c:v>1860s</c:v>
                  </c:pt>
                  <c:pt idx="2">
                    <c:v>1870s</c:v>
                  </c:pt>
                  <c:pt idx="3">
                    <c:v>1880s</c:v>
                  </c:pt>
                  <c:pt idx="4">
                    <c:v>1890s</c:v>
                  </c:pt>
                  <c:pt idx="5">
                    <c:v>1900s</c:v>
                  </c:pt>
                  <c:pt idx="6">
                    <c:v>1910s</c:v>
                  </c:pt>
                  <c:pt idx="7">
                    <c:v>1920s</c:v>
                  </c:pt>
                  <c:pt idx="8">
                    <c:v>1930s</c:v>
                  </c:pt>
                  <c:pt idx="9">
                    <c:v>1940s</c:v>
                  </c:pt>
                  <c:pt idx="10">
                    <c:v>1950s</c:v>
                  </c:pt>
                </c:lvl>
              </c:multiLvlStrCache>
            </c:multiLvlStrRef>
          </c:cat>
          <c:val>
            <c:numRef>
              <c:f>Sheet1!$B$2:$B$12</c:f>
              <c:numCache>
                <c:formatCode>General</c:formatCode>
                <c:ptCount val="11"/>
                <c:pt idx="0">
                  <c:v>0</c:v>
                </c:pt>
                <c:pt idx="1">
                  <c:v>0</c:v>
                </c:pt>
                <c:pt idx="2">
                  <c:v>0</c:v>
                </c:pt>
                <c:pt idx="3">
                  <c:v>0</c:v>
                </c:pt>
                <c:pt idx="4">
                  <c:v>0</c:v>
                </c:pt>
                <c:pt idx="5">
                  <c:v>0</c:v>
                </c:pt>
                <c:pt idx="6">
                  <c:v>0</c:v>
                </c:pt>
                <c:pt idx="7">
                  <c:v>0</c:v>
                </c:pt>
                <c:pt idx="8">
                  <c:v>0</c:v>
                </c:pt>
                <c:pt idx="9">
                  <c:v>0</c:v>
                </c:pt>
                <c:pt idx="10">
                  <c:v>0</c:v>
                </c:pt>
              </c:numCache>
            </c:numRef>
          </c:val>
        </c:ser>
        <c:ser>
          <c:idx val="1"/>
          <c:order val="1"/>
          <c:tx>
            <c:strRef>
              <c:f>Sheet1!$C$1</c:f>
              <c:strCache>
                <c:ptCount val="1"/>
                <c:pt idx="0">
                  <c:v>Swimming</c:v>
                </c:pt>
              </c:strCache>
            </c:strRef>
          </c:tx>
          <c:spPr>
            <a:solidFill>
              <a:srgbClr val="1E6C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1850s</c:v>
                  </c:pt>
                  <c:pt idx="1">
                    <c:v>1860s</c:v>
                  </c:pt>
                  <c:pt idx="2">
                    <c:v>1870s</c:v>
                  </c:pt>
                  <c:pt idx="3">
                    <c:v>1880s</c:v>
                  </c:pt>
                  <c:pt idx="4">
                    <c:v>1890s</c:v>
                  </c:pt>
                  <c:pt idx="5">
                    <c:v>1900s</c:v>
                  </c:pt>
                  <c:pt idx="6">
                    <c:v>1910s</c:v>
                  </c:pt>
                  <c:pt idx="7">
                    <c:v>1920s</c:v>
                  </c:pt>
                  <c:pt idx="8">
                    <c:v>1930s</c:v>
                  </c:pt>
                  <c:pt idx="9">
                    <c:v>1940s</c:v>
                  </c:pt>
                  <c:pt idx="10">
                    <c:v>1950s</c:v>
                  </c:pt>
                </c:lvl>
              </c:multiLvlStrCache>
            </c:multiLvlStrRef>
          </c:cat>
          <c:val>
            <c:numRef>
              <c:f>Sheet1!$C$2:$C$12</c:f>
              <c:numCache>
                <c:formatCode>General</c:formatCode>
                <c:ptCount val="11"/>
                <c:pt idx="0">
                  <c:v>0</c:v>
                </c:pt>
                <c:pt idx="1">
                  <c:v>0</c:v>
                </c:pt>
                <c:pt idx="2">
                  <c:v>0</c:v>
                </c:pt>
                <c:pt idx="3">
                  <c:v>0</c:v>
                </c:pt>
                <c:pt idx="4">
                  <c:v>0</c:v>
                </c:pt>
                <c:pt idx="5">
                  <c:v>0</c:v>
                </c:pt>
                <c:pt idx="6">
                  <c:v>0</c:v>
                </c:pt>
                <c:pt idx="7">
                  <c:v>0</c:v>
                </c:pt>
                <c:pt idx="8">
                  <c:v>0</c:v>
                </c:pt>
                <c:pt idx="9">
                  <c:v>0</c:v>
                </c:pt>
                <c:pt idx="10">
                  <c:v>0</c:v>
                </c:pt>
              </c:numCache>
            </c:numRef>
          </c:val>
        </c:ser>
        <c:ser>
          <c:idx val="2"/>
          <c:order val="2"/>
          <c:tx>
            <c:strRef>
              <c:f>Sheet1!$D$1</c:f>
              <c:strCache>
                <c:ptCount val="1"/>
                <c:pt idx="0">
                  <c:v>Surfing</c:v>
                </c:pt>
              </c:strCache>
            </c:strRef>
          </c:tx>
          <c:spPr>
            <a:solidFill>
              <a:srgbClr val="E0A04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1850s</c:v>
                  </c:pt>
                  <c:pt idx="1">
                    <c:v>1860s</c:v>
                  </c:pt>
                  <c:pt idx="2">
                    <c:v>1870s</c:v>
                  </c:pt>
                  <c:pt idx="3">
                    <c:v>1880s</c:v>
                  </c:pt>
                  <c:pt idx="4">
                    <c:v>1890s</c:v>
                  </c:pt>
                  <c:pt idx="5">
                    <c:v>1900s</c:v>
                  </c:pt>
                  <c:pt idx="6">
                    <c:v>1910s</c:v>
                  </c:pt>
                  <c:pt idx="7">
                    <c:v>1920s</c:v>
                  </c:pt>
                  <c:pt idx="8">
                    <c:v>1930s</c:v>
                  </c:pt>
                  <c:pt idx="9">
                    <c:v>1940s</c:v>
                  </c:pt>
                  <c:pt idx="10">
                    <c:v>1950s</c:v>
                  </c:pt>
                </c:lvl>
              </c:multiLvlStrCache>
            </c:multiLvlStrRef>
          </c:cat>
          <c:val>
            <c:numRef>
              <c:f>Sheet1!$D$2:$D$12</c:f>
              <c:numCache>
                <c:formatCode>General</c:formatCode>
                <c:ptCount val="11"/>
                <c:pt idx="0">
                  <c:v>0</c:v>
                </c:pt>
                <c:pt idx="1">
                  <c:v>0</c:v>
                </c:pt>
                <c:pt idx="2">
                  <c:v>0</c:v>
                </c:pt>
                <c:pt idx="3">
                  <c:v>0</c:v>
                </c:pt>
                <c:pt idx="4">
                  <c:v>0</c:v>
                </c:pt>
                <c:pt idx="5">
                  <c:v>0</c:v>
                </c:pt>
                <c:pt idx="6">
                  <c:v>0</c:v>
                </c:pt>
                <c:pt idx="7">
                  <c:v>0</c:v>
                </c:pt>
                <c:pt idx="8">
                  <c:v>0</c:v>
                </c:pt>
                <c:pt idx="9">
                  <c:v>0</c:v>
                </c:pt>
                <c:pt idx="1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B7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1C3"/>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C6B77"/>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E4C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93A"/>
                </a:solidFill>
                <a:latin typeface="+mn-lt"/>
              </a:defRPr>
            </a:pPr>
            <a:r>
              <a:rPr sz="1400" b="0" i="0" u="none" strike="noStrike">
                <a:solidFill>
                  <a:srgbClr val="10293A"/>
                </a:solidFill>
                <a:latin typeface="+mn-lt"/>
              </a:rPr>
              <a:t>Each sport’s share of three measures</a:t>
            </a:r>
          </a:p>
        </c:rich>
      </c:tx>
      <c:layout/>
      <c:overlay val="0"/>
    </c:title>
    <c:autoTitleDeleted val="0"/>
    <c:plotArea>
      <c:layout/>
      <c:barChart>
        <c:barDir val="bar"/>
        <c:grouping val="percentStacked"/>
        <c:varyColors val="0"/>
        <c:ser>
          <c:idx val="0"/>
          <c:order val="0"/>
          <c:tx>
            <c:strRef>
              <c:f>Sheet1!$B$1</c:f>
              <c:strCache>
                <c:ptCount val="1"/>
                <c:pt idx="0">
                  <c:v>Rowing</c:v>
                </c:pt>
              </c:strCache>
            </c:strRef>
          </c:tx>
          <c:spPr>
            <a:solidFill>
              <a:srgbClr val="1F5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Participation (AusPlay 2024–25)</c:v>
                  </c:pt>
                  <c:pt idx="1">
                    <c:v>HP funding (ASC 2025–26)</c:v>
                  </c:pt>
                  <c:pt idx="2">
                    <c:v>Medals (Paris 2024)</c:v>
                  </c:pt>
                </c:lvl>
              </c:multiLvlStrCache>
            </c:multiLvlStrRef>
          </c:cat>
          <c:val>
            <c:numRef>
              <c:f>Sheet1!$B$2:$B$4</c:f>
              <c:numCache>
                <c:formatCode>General</c:formatCode>
                <c:ptCount val="3"/>
                <c:pt idx="0">
                  <c:v>0</c:v>
                </c:pt>
                <c:pt idx="1">
                  <c:v>0</c:v>
                </c:pt>
                <c:pt idx="2">
                  <c:v>0</c:v>
                </c:pt>
              </c:numCache>
            </c:numRef>
          </c:val>
        </c:ser>
        <c:ser>
          <c:idx val="1"/>
          <c:order val="1"/>
          <c:tx>
            <c:strRef>
              <c:f>Sheet1!$C$1</c:f>
              <c:strCache>
                <c:ptCount val="1"/>
                <c:pt idx="0">
                  <c:v>Swimming</c:v>
                </c:pt>
              </c:strCache>
            </c:strRef>
          </c:tx>
          <c:spPr>
            <a:solidFill>
              <a:srgbClr val="1E6C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Participation (AusPlay 2024–25)</c:v>
                  </c:pt>
                  <c:pt idx="1">
                    <c:v>HP funding (ASC 2025–26)</c:v>
                  </c:pt>
                  <c:pt idx="2">
                    <c:v>Medals (Paris 2024)</c:v>
                  </c:pt>
                </c:lvl>
              </c:multiLvlStrCache>
            </c:multiLvlStrRef>
          </c:cat>
          <c:val>
            <c:numRef>
              <c:f>Sheet1!$C$2:$C$4</c:f>
              <c:numCache>
                <c:formatCode>General</c:formatCode>
                <c:ptCount val="3"/>
                <c:pt idx="0">
                  <c:v>0</c:v>
                </c:pt>
                <c:pt idx="1">
                  <c:v>0</c:v>
                </c:pt>
                <c:pt idx="2">
                  <c:v>0</c:v>
                </c:pt>
              </c:numCache>
            </c:numRef>
          </c:val>
        </c:ser>
        <c:ser>
          <c:idx val="2"/>
          <c:order val="2"/>
          <c:tx>
            <c:strRef>
              <c:f>Sheet1!$D$1</c:f>
              <c:strCache>
                <c:ptCount val="1"/>
                <c:pt idx="0">
                  <c:v>Surfing</c:v>
                </c:pt>
              </c:strCache>
            </c:strRef>
          </c:tx>
          <c:spPr>
            <a:solidFill>
              <a:srgbClr val="E0A04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Participation (AusPlay 2024–25)</c:v>
                  </c:pt>
                  <c:pt idx="1">
                    <c:v>HP funding (ASC 2025–26)</c:v>
                  </c:pt>
                  <c:pt idx="2">
                    <c:v>Medals (Paris 2024)</c:v>
                  </c:pt>
                </c:lvl>
              </c:multiLvlStrCache>
            </c:multiLvlStrRef>
          </c:cat>
          <c:val>
            <c:numRef>
              <c:f>Sheet1!$D$2:$D$4</c:f>
              <c:numCache>
                <c:formatCode>General</c:formatCode>
                <c:ptCount val="3"/>
                <c:pt idx="0">
                  <c:v>0</c:v>
                </c:pt>
                <c:pt idx="1">
                  <c:v>0</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C6B77"/>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9D1C3"/>
              </a:solidFill>
              <a:prstDash val="solid"/>
              <a:round/>
            </a:ln>
          </c:spPr>
        </c:majorGridlines>
        <c:numFmt formatCode="0%" sourceLinked="0"/>
        <c:majorTickMark val="out"/>
        <c:minorTickMark val="none"/>
        <c:tickLblPos val="low"/>
        <c:spPr>
          <a:ln w="12700" cap="flat">
            <a:noFill/>
            <a:prstDash val="solid"/>
            <a:round/>
          </a:ln>
        </c:spPr>
        <c:txPr>
          <a:bodyPr/>
          <a:lstStyle/>
          <a:p>
            <a:pPr>
              <a:defRPr sz="1200" b="0" i="0" u="none" strike="noStrike">
                <a:solidFill>
                  <a:srgbClr val="5C6B77"/>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E4C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0:45
[Partner] opens with the hook: "In 1877, around 50,000 people watched a world sculling race on the Parramatta River. So why does nobody picture the river when they picture Australian water?"
Dave: "Today we ask a simple question: whose water is it? We look at three places, the river, the pool and the beach, through three sports: rowing, swimming and surfing."
Introduce yourselves by name. Keep it under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1:00 · one of the three personal moments (slide 2, one line in each finding, the last line).
Dave: "I learned to surf in North Wales, in water cold enough that you mostly think about your feet. Here, surfing feels like part of being Australian. We wanted to know how that happened."
[Partner]: your personal story, under 30 seconds.
Then ask the North Wales question once, as a question: "Britain has surf culture too, so why did surfing become a national symbol here and not there?"
Say "I" for your own experience and "we" for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 1:00
Three facts, one point: when people picture Australian water they picture the beach, but the river keeps turning up.
1876: Ned Trickett won the world sculling title, making a rower Australia's first world champion in any sport.
2032: the Olympic rowing will be on the Fitzroy River, not in a purpose-built lake.
357: drowning hit a record in 2024–25, and more people drowned in rivers than on beaches.
Bridge to Dave: "So the river matters, then and now. That leads to our question."
Confirm each source before Thursday and add it to the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 · 1:15
Read the question slowly, once.
Give the definition: "By Australian water sport culture we mean rowing, swimming and surfing, and what they have meant to people over time."
Explain the structure: we organise everything by topic, not by era or by sport, and every slide covers at least two sports.
State the hunch as something we tested, not something we assumed: "Our hunch was that each sport tells a different story about belonging. Looked at topic by topic, the beach nation is only part of the picture."
Hand over to [Partner] for topic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 1:15
The argument in one line: British amateur rules kept workers out, yet sculling became Australia's first mass sporting spectacle.
Name authors out loud: "Cashman argues…", "Vamplew and Stoddart show…", "Bennett's biography of Henry Searle…" (one line each, from your reading).
Rowing: Bobby Pearce, a carpenter, was barred from Henley's Diamond Sculls in 1928 under the manual-labour rule.
Swimming: class still shapes who is safe in the water; drowning rates today are double in disadvantaged areas.
Surfing: surfers rejected the discipline and hierarchy of the lifesaving clubs.
Fill in one debate between scholars (needed for 8/8 on the literature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 · 1:15
The argument in one line: the water's edge is where bodies were shown off and policed; women fought rules on costumes and club membership.
Name authors out loud: "Booth argues…", "Stell shows…", "Jaggard's collection…" (one line each, from your reading).
Rowing: "ladies' sculling" was treated as a novelty in the 1900s.
Swimming: Annette Kellerman was arrested over a one-piece costume in 1907; Fanny Durack and Mina Wylie swam at the Stockholm Olympics in 1912.
Surfing: women could not gain the lifesaving Bronze Medallion until 1980.
Fill in one debate between scholars.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 1:15
The argument in one line: rowing and swimming became funded Olympic projects; surfing resisted, then joined the Olympics.
Name authors out loud: "Wheaton argues…", "Thorpe and Wheaton show…", "Hogan and Norton put a price on Olympic gold…" (one line each, from your reading).
Rowing: Ned Trickett, Australia's first world champion in any sport (1876); the 2032 regatta on the Fitzroy River.
Swimming: Melbourne 1956 and swimming's share of Olympic medals today (Finding B will show this).
Surfing: Midget Farrelly's world title in 1964; surfing's Olympic debut at Tokyo 2020, held in July 2021.
Fill in one debate between scholars, e.g. whether joining the Olympics changed surfing's counter-culture.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 · 1:15
The argument in one line: pools and beaches have excluded people, and national myths borrowed Pacific Islander skill.
Name authors out loud: "Curthoys, who was on the Freedom Ride…", "Osmond argues…", "Noble's collection on Cronulla…" (one line each, from your reading).
Rowing: we found almost no research on race and rowing. Say so: it is a gap worth naming.
Swimming: Aboriginal children were kept out of the Moree baths until the Freedom Ride in 1965; the "Australian crawl" story leaves out the Pacific Islander swimmers it came from.
Surfing: Duke Kahanamoku's Freshwater demonstration, December 1914, did not introduce board riding; others had demonstrated it earlier (Osmond). Cronulla, 2005: the beach as a site of exclusion.
If asked about Indigenous perspectives: water as Country predates all three sports; we stick to published scholarship rather than speak for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1:00 (Dave does A, [Partner] does B, about 30 seconds each)
Dave: "One analysis looks at the past through old newspapers. We searched Trove, limited to articles, once per sport, and wrote down the number of results per decade from the 1850s to the 1950s. To check the search terms worked, we opened 10 results per sport and counted how many were really about that sport."
[Partner]: "The other looks at today. For each sport we took its share of adult participation from AusPlay, its share of high-performance funding from the Sports Commission, and its share of Paris 2024 medals."
Both: keep limitations for the finding slides, where they explain the chart.
Have the exact search dates and decade counts ready in the submitted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 · 2:30
Replace the dashed placeholder with the stacked bar chart from the Trove spreadsheet, and rewrite the title as a claim the chart supports.
Walk the audience through the chart: what one bar means (one decade, each sport's share of the three), then the pattern.
Say what surprised you, and add one personal line here.
Limits to mention: Trove mostly stops at 1954 because of copyright, so the 1960s surf boom is missing; scanning errors miss some articles; words like "surfing" changed meaning; newspaper coverage is not the same as what people actually did.
If the beach never overtook the pool before 1955, say the beach nation was mostly built later.
Link it back to the topics: mainly national pride, and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 2:30
Replace the three dashed bars with the chart from the spreadsheet: three 100% bars (participation, funding, medals), each split by sport. Rewrite the title as a claim the chart supports.
Walk through it bar by bar, then say what the three bars mean together.
Say what surprised you, and add one personal line here.
Limits to mention: AusPlay is self-reported; rowing's sample is small; swimming has far more Olympic events than surfing, so medal shares favour it; the funding figures leave out schools and private money, which matter most for rowing.
If swimming leads on participation, funding and medals: "the image belongs to the beach, but the investment and success belong to the pool."
Link it back to the topics: mainly national pride, and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1:30 ([Partner] takes topics 1 and 3, Dave takes 2 and 4, then one of you reads the data row)
Answer the question topic by topic, one sentence each, naming at least two sports where you can.
Class: rowing kept workers out (Pearce), even though sculling drew the biggest crowds.
Gender: women had to fight their way into all three: costumes, Olympic entry, lifesaving membership.
National pride: the medals mostly come from the pool. Check this against Finding B and change the line if your data says otherwise.
Race: pools and beaches have both been used to exclude (Moree 1965, Cronulla 2005).
Our data: fill in one short phrase for each finding once the charts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1:00
Draft "our understanding" (from the plan): "Rowing, swimming and surfing each tell a different story about who counts as Australian. On class, rowing kept workers out. On gender, women had to fight their way into all three. On national pride, the medals mostly come from the pool. On race, pools and beaches have both been used to exclude. Our newspaper data shows [finding A], and today's numbers show [finding B]. So the 'beach nation' is a real image, but only part of the story."
If your data surprises you: if the beach never overtook the pool before 1955, say the beach nation was mostly built later. If swimming leads on participation, funding and medals, say the image belongs to the beach but the investment and success belong to the pool.
End on one personal line (the third personal moment), then "Thank you" and move to the references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during questions. Short forms on the slide; full forms below for the submitted reference list. Check every entry against the library record and your unit's referencing style (page ranges especially).
Bennett, S. (1973). The Clarence Comet: The career of Henry Searle, 1866–89. Sydney University Press.
Booth, D. (2001). Australian beach cultures: The history of sun, sand and surf. Frank Cass.
Cashman, R. (1995). Paradise of sport: The rise of organised sport in Australia. Oxford University Press.
Curthoys, A. (2002). Freedom ride: A freedom rider remembers. Allen &amp; Unwin.
Hogan, K., &amp; Norton, K. (2000). The 'price' of Olympic gold. Journal of Science and Medicine in Sport, 3(2), 203–218.
Jaggard, E. (Ed.). (2006). Between the flags: One hundred summers of Australian surf lifesaving. UNSW Press.
Noble, G. (Ed.). (2009). Lines in the sand: The Cronulla riots, multiculturalism and national belonging. Institute of Criminology Press.
Osmond, G. (2011). Myth-making in Australian sport history: Re-evaluating Duke Kahanamoku's contribution to surfing. Australian Historical Studies, 42(2), 260–276.
Stell, M. K. (1991). Half the race: A history of Australian women in sport. Angus &amp; Robertson.
Thorpe, H., &amp; Wheaton, B. (2011). 'Generation X Games', action sports and the Olympic movement: Understanding the cultural politics of incorporation. Sociology, 45(5), 830–847.
Vamplew, W., &amp; Stoddart, B. (Eds.). (1994). Sport in Australia: A social history. Cambridge University Press.
Wheaton, B. (2013). The cultural politics of lifestyle sports. Routledge.
Q&amp;A: answer in three steps. Name the limit, say what you did about it, say what it means for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rtlCol="0"/>
          <a:lstStyle>
            <a:lvl1pPr algn="l" indent="0" marL="0">
              <a:buNone/>
              <a:defRPr lang="en-US" sz="1200" b="1" spc="300" kern="0" dirty="0">
                <a:solidFill>
                  <a:schemeClr val="accent3"/>
                </a:solidFill>
              </a:defRPr>
            </a:lvl1pPr>
          </a:lstStyle>
          <a:p>
            <a:pPr algn="l" indent="0" marL="0">
              <a:buNone/>
            </a:pPr>
            <a:r>
              <a:rPr lang="en-US" sz="1200" b="1" spc="300" kern="0" dirty="0">
                <a:solidFill>
                  <a:schemeClr val="accent3"/>
                </a:solidFill>
              </a:rPr>
              <a:t>EYEBROW</a:t>
            </a:r>
            <a:endParaRPr lang="en-US" sz="1200" dirty="0"/>
          </a:p>
        </p:txBody>
      </p:sp>
      <p:sp>
        <p:nvSpPr>
          <p:cNvPr id="3" name="Text 0"/>
          <p:cNvSpPr/>
          <p:nvPr>
            <p:ph idx="101" type="title" hasCustomPrompt="1"/>
          </p:nvPr>
        </p:nvSpPr>
        <p:spPr>
          <a:xfrm>
            <a:off x="731520" y="1188720"/>
            <a:ext cx="10728655" cy="1005840"/>
          </a:xfrm>
          <a:prstGeom prst="rect">
            <a:avLst/>
          </a:prstGeom>
          <a:noFill/>
          <a:ln/>
        </p:spPr>
        <p:txBody>
          <a:bodyPr wrap="square" rtlCol="0"/>
          <a:lstStyle>
            <a:lvl1pPr algn="l" indent="0" marL="0">
              <a:buNone/>
              <a:defRPr lang="en-US" sz="6000" b="1" dirty="0">
                <a:solidFill>
                  <a:schemeClr val="bg2"/>
                </a:solidFill>
              </a:defRPr>
            </a:lvl1pPr>
          </a:lstStyle>
          <a:p>
            <a:pPr algn="l" indent="0" marL="0">
              <a:buNone/>
            </a:pPr>
            <a:r>
              <a:rPr lang="en-US" sz="6000" b="1" dirty="0">
                <a:solidFill>
                  <a:schemeClr val="bg2"/>
                </a:solidFill>
              </a:rPr>
              <a:t>Slide title as a claim</a:t>
            </a:r>
            <a:endParaRPr lang="en-US" sz="6000" dirty="0"/>
          </a:p>
        </p:txBody>
      </p:sp>
      <p:sp>
        <p:nvSpPr>
          <p:cNvPr id="4" name="Text 0"/>
          <p:cNvSpPr/>
          <p:nvPr>
            <p:ph idx="102" type="body" hasCustomPrompt="1"/>
          </p:nvPr>
        </p:nvSpPr>
        <p:spPr>
          <a:xfrm>
            <a:off x="731520" y="2286000"/>
            <a:ext cx="10728655" cy="548640"/>
          </a:xfrm>
          <a:prstGeom prst="rect">
            <a:avLst/>
          </a:prstGeom>
          <a:noFill/>
          <a:ln/>
        </p:spPr>
        <p:txBody>
          <a:bodyPr wrap="square" rtlCol="0"/>
          <a:lstStyle>
            <a:lvl1pPr algn="l" indent="0" marL="0">
              <a:buNone/>
              <a:defRPr lang="en-US" sz="2200" i="1" dirty="0">
                <a:solidFill>
                  <a:schemeClr val="accent6"/>
                </a:solidFill>
                <a:latin typeface="+mj-lt" pitchFamily="34" charset="0"/>
                <a:ea typeface="+mj-lt" pitchFamily="34" charset="-122"/>
                <a:cs typeface="+mj-lt" pitchFamily="34" charset="-120"/>
              </a:defRPr>
            </a:lvl1pPr>
          </a:lstStyle>
          <a:p>
            <a:pPr algn="l" indent="0" marL="0">
              <a:buNone/>
            </a:pPr>
            <a:r>
              <a:rPr lang="en-US" sz="2200" i="1" dirty="0">
                <a:solidFill>
                  <a:schemeClr val="accent6"/>
                </a:solidFill>
                <a:latin typeface="+mj-lt" pitchFamily="34" charset="0"/>
                <a:ea typeface="+mj-lt" pitchFamily="34" charset="-122"/>
                <a:cs typeface="+mj-lt" pitchFamily="34" charset="-120"/>
              </a:rPr>
              <a:t>Subtitle</a:t>
            </a:r>
            <a:endParaRPr lang="en-US" sz="2200" dirty="0"/>
          </a:p>
        </p:txBody>
      </p:sp>
      <p:sp>
        <p:nvSpPr>
          <p:cNvPr id="5" name="Text 0"/>
          <p:cNvSpPr/>
          <p:nvPr>
            <p:ph idx="103" type="body" hasCustomPrompt="1"/>
          </p:nvPr>
        </p:nvSpPr>
        <p:spPr>
          <a:xfrm>
            <a:off x="731520" y="2926080"/>
            <a:ext cx="10728655" cy="365760"/>
          </a:xfrm>
          <a:prstGeom prst="rect">
            <a:avLst/>
          </a:prstGeom>
          <a:noFill/>
          <a:ln/>
        </p:spPr>
        <p:txBody>
          <a:bodyPr wrap="square" rtlCol="0"/>
          <a:lstStyle>
            <a:lvl1pPr algn="l" indent="0" marL="0">
              <a:buNone/>
              <a:defRPr lang="en-US" sz="1600" b="1" dirty="0">
                <a:solidFill>
                  <a:schemeClr val="bg2"/>
                </a:solidFill>
              </a:defRPr>
            </a:lvl1pPr>
          </a:lstStyle>
          <a:p>
            <a:pPr algn="l" indent="0" marL="0">
              <a:buNone/>
            </a:pPr>
            <a:r>
              <a:rPr lang="en-US" sz="1600" b="1" dirty="0">
                <a:solidFill>
                  <a:schemeClr val="bg2"/>
                </a:solidFill>
              </a:rPr>
              <a:t>Presenters</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rtlCol="0"/>
          <a:lstStyle>
            <a:lvl1pPr algn="l" indent="0" marL="0">
              <a:buNone/>
              <a:defRPr lang="en-US" sz="1200" b="1" spc="300" kern="0" dirty="0">
                <a:solidFill>
                  <a:schemeClr val="accent4"/>
                </a:solidFill>
              </a:defRPr>
            </a:lvl1pPr>
          </a:lstStyle>
          <a:p>
            <a:pPr algn="l" indent="0" marL="0">
              <a:buNone/>
            </a:pPr>
            <a:r>
              <a:rPr lang="en-US" sz="1200" b="1" spc="300" kern="0" dirty="0">
                <a:solidFill>
                  <a:schemeClr val="accent4"/>
                </a:solidFill>
              </a:rPr>
              <a:t>EYEBROW</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 as a claim</a:t>
            </a:r>
            <a:endParaRPr lang="en-US" sz="3600" dirty="0"/>
          </a:p>
        </p:txBody>
      </p:sp>
      <p:sp>
        <p:nvSpPr>
          <p:cNvPr id="4" name="Text 0"/>
          <p:cNvSpPr/>
          <p:nvPr>
            <p:ph idx="102" type="body" hasCustomPrompt="1"/>
          </p:nvPr>
        </p:nvSpPr>
        <p:spPr>
          <a:xfrm>
            <a:off x="731520" y="6263640"/>
            <a:ext cx="8778240" cy="274320"/>
          </a:xfrm>
          <a:prstGeom prst="rect">
            <a:avLst/>
          </a:prstGeom>
          <a:noFill/>
          <a:ln/>
        </p:spPr>
        <p:txBody>
          <a:bodyPr wrap="square" rtlCol="0"/>
          <a:lstStyle>
            <a:lvl1pPr algn="l" indent="0" marL="0">
              <a:buNone/>
              <a:defRPr lang="en-US" sz="1200" dirty="0">
                <a:solidFill>
                  <a:schemeClr val="accent5"/>
                </a:solidFill>
              </a:defRPr>
            </a:lvl1pPr>
          </a:lstStyle>
          <a:p>
            <a:pPr algn="l" indent="0" marL="0">
              <a:buNone/>
            </a:pPr>
            <a:r>
              <a:rPr lang="en-US" sz="1200" dirty="0">
                <a:solidFill>
                  <a:schemeClr val="accent5"/>
                </a:solidFill>
              </a:rPr>
              <a:t>Footer or source</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rtlCol="0"/>
          <a:lstStyle>
            <a:lvl1pPr algn="l" indent="0" marL="0">
              <a:buNone/>
              <a:defRPr lang="en-US" sz="1200" b="1" spc="300" kern="0" dirty="0">
                <a:solidFill>
                  <a:schemeClr val="accent3"/>
                </a:solidFill>
              </a:defRPr>
            </a:lvl1pPr>
          </a:lstStyle>
          <a:p>
            <a:pPr algn="l" indent="0" marL="0">
              <a:buNone/>
            </a:pPr>
            <a:r>
              <a:rPr lang="en-US" sz="1200" b="1" spc="300" kern="0" dirty="0">
                <a:solidFill>
                  <a:schemeClr val="accent3"/>
                </a:solidFill>
              </a:rPr>
              <a:t>EYEBROW</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r>
              <a:rPr lang="en-US" sz="3600" b="1" dirty="0">
                <a:solidFill>
                  <a:schemeClr val="bg2"/>
                </a:solidFill>
              </a:rPr>
              <a:t>Slide title as a claim</a:t>
            </a:r>
            <a:endParaRPr lang="en-US" sz="3600" dirty="0"/>
          </a:p>
        </p:txBody>
      </p:sp>
      <p:sp>
        <p:nvSpPr>
          <p:cNvPr id="4" name="Text 0"/>
          <p:cNvSpPr/>
          <p:nvPr>
            <p:ph idx="102" type="body" hasCustomPrompt="1"/>
          </p:nvPr>
        </p:nvSpPr>
        <p:spPr>
          <a:xfrm>
            <a:off x="731520" y="6263640"/>
            <a:ext cx="8778240" cy="274320"/>
          </a:xfrm>
          <a:prstGeom prst="rect">
            <a:avLst/>
          </a:prstGeom>
          <a:noFill/>
          <a:ln/>
        </p:spPr>
        <p:txBody>
          <a:bodyPr wrap="square" rtlCol="0"/>
          <a:lstStyle>
            <a:lvl1pPr algn="l" indent="0" marL="0">
              <a:buNone/>
              <a:defRPr lang="en-US" sz="1200" dirty="0">
                <a:solidFill>
                  <a:schemeClr val="accent6"/>
                </a:solidFill>
              </a:defRPr>
            </a:lvl1pPr>
          </a:lstStyle>
          <a:p>
            <a:pPr algn="l" indent="0" marL="0">
              <a:buNone/>
            </a:pPr>
            <a:r>
              <a:rPr lang="en-US" sz="1200" dirty="0">
                <a:solidFill>
                  <a:schemeClr val="accent6"/>
                </a:solidFill>
              </a:rPr>
              <a:t>Footer or source</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728655" cy="320040"/>
          </a:xfrm>
          <a:prstGeom prst="rect">
            <a:avLst/>
          </a:prstGeom>
          <a:noFill/>
          <a:ln/>
        </p:spPr>
        <p:txBody>
          <a:bodyPr wrap="square" rtlCol="0"/>
          <a:lstStyle>
            <a:lvl1pPr algn="l" indent="0" marL="0">
              <a:buNone/>
              <a:defRPr lang="en-US" sz="1200" b="1" spc="300" kern="0" dirty="0">
                <a:solidFill>
                  <a:schemeClr val="tx1"/>
                </a:solidFill>
              </a:defRPr>
            </a:lvl1pPr>
          </a:lstStyle>
          <a:p>
            <a:pPr algn="l" indent="0" marL="0">
              <a:buNone/>
            </a:pPr>
            <a:r>
              <a:rPr lang="en-US" sz="1200" b="1" spc="300" kern="0" dirty="0">
                <a:solidFill>
                  <a:schemeClr val="tx1"/>
                </a:solidFill>
              </a:rPr>
              <a:t>EYEBROW</a:t>
            </a:r>
            <a:endParaRPr lang="en-US" sz="1200" dirty="0"/>
          </a:p>
        </p:txBody>
      </p:sp>
      <p:sp>
        <p:nvSpPr>
          <p:cNvPr id="3" name="Text 0"/>
          <p:cNvSpPr/>
          <p:nvPr>
            <p:ph idx="101" type="title" hasCustomPrompt="1"/>
          </p:nvPr>
        </p:nvSpPr>
        <p:spPr>
          <a:xfrm>
            <a:off x="731520" y="1463040"/>
            <a:ext cx="10728655" cy="187452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r>
              <a:rPr lang="en-US" sz="6000" b="1" dirty="0">
                <a:solidFill>
                  <a:schemeClr val="tx1"/>
                </a:solidFill>
              </a:rPr>
              <a:t>Slide title as a claim</a:t>
            </a: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hree panels side by side: a green river with flowing lines, a blue pool with lane ropes, and an ochre beach with rows of waves">    </p:cNvPr>
          <p:cNvPicPr>
            <a:picLocks noChangeAspect="1"/>
          </p:cNvPicPr>
          <p:nvPr/>
        </p:nvPicPr>
        <p:blipFill>
          <a:blip r:embed="rId1"/>
          <a:stretch>
            <a:fillRect/>
          </a:stretch>
        </p:blipFill>
        <p:spPr>
          <a:xfrm>
            <a:off x="0" y="4572000"/>
            <a:ext cx="12191695" cy="2286000"/>
          </a:xfrm>
          <a:prstGeom prst="rect">
            <a:avLst/>
          </a:prstGeom>
        </p:spPr>
      </p:pic>
      <p:sp>
        <p:nvSpPr>
          <p:cNvPr id="3"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PAIRED PRESENTATION · [UNIT CODE] · THURSDAY 15 OCTOBER 2026</a:t>
            </a:r>
            <a:endParaRPr lang="en-US" sz="1200" dirty="0"/>
          </a:p>
        </p:txBody>
      </p:sp>
      <p:sp>
        <p:nvSpPr>
          <p:cNvPr id="4" name="Text 0"/>
          <p:cNvSpPr/>
          <p:nvPr>
            <p:ph idx="101" type="title" hasCustomPrompt="1"/>
          </p:nvPr>
        </p:nvSpPr>
        <p:spPr>
          <a:xfrm>
            <a:off x="731520" y="1188720"/>
            <a:ext cx="10728655" cy="1005840"/>
          </a:xfrm>
          <a:prstGeom prst="rect">
            <a:avLst/>
          </a:prstGeom>
          <a:noFill/>
          <a:ln/>
        </p:spPr>
        <p:txBody>
          <a:bodyPr wrap="square" lIns="0" tIns="0" rIns="0" bIns="0" rtlCol="0" anchor="t"/>
          <a:lstStyle/>
          <a:p>
            <a:pPr algn="l" indent="0" marL="0">
              <a:buNone/>
            </a:pPr>
            <a:r>
              <a:rPr lang="en-US" sz="6000" b="1" dirty="0">
                <a:solidFill>
                  <a:schemeClr val="bg2"/>
                </a:solidFill>
              </a:rPr>
              <a:t>River, Pool and Beach</a:t>
            </a:r>
            <a:endParaRPr lang="en-US" sz="6000" dirty="0"/>
          </a:p>
        </p:txBody>
      </p:sp>
      <p:sp>
        <p:nvSpPr>
          <p:cNvPr id="5" name="Text 0"/>
          <p:cNvSpPr/>
          <p:nvPr>
            <p:ph idx="102" type="body" hasCustomPrompt="1"/>
          </p:nvPr>
        </p:nvSpPr>
        <p:spPr>
          <a:xfrm>
            <a:off x="731520" y="2286000"/>
            <a:ext cx="10728655" cy="548640"/>
          </a:xfrm>
          <a:prstGeom prst="rect">
            <a:avLst/>
          </a:prstGeom>
          <a:noFill/>
          <a:ln/>
        </p:spPr>
        <p:txBody>
          <a:bodyPr wrap="square" lIns="0" tIns="0" rIns="0" bIns="0" rtlCol="0" anchor="t"/>
          <a:lstStyle/>
          <a:p>
            <a:pPr algn="l" indent="0" marL="0">
              <a:buNone/>
            </a:pPr>
            <a:r>
              <a:rPr lang="en-US" sz="2200" i="1" dirty="0">
                <a:solidFill>
                  <a:schemeClr val="accent6"/>
                </a:solidFill>
                <a:latin typeface="+mj-lt" pitchFamily="34" charset="0"/>
                <a:ea typeface="+mj-lt" pitchFamily="34" charset="-122"/>
                <a:cs typeface="+mj-lt" pitchFamily="34" charset="-120"/>
              </a:rPr>
              <a:t>Who does Australian water belong to?</a:t>
            </a:r>
            <a:endParaRPr lang="en-US" sz="2200" dirty="0"/>
          </a:p>
        </p:txBody>
      </p:sp>
      <p:sp>
        <p:nvSpPr>
          <p:cNvPr id="6" name="Text 0"/>
          <p:cNvSpPr/>
          <p:nvPr>
            <p:ph idx="103" type="body" hasCustomPrompt="1"/>
          </p:nvPr>
        </p:nvSpPr>
        <p:spPr>
          <a:xfrm>
            <a:off x="731520" y="2926080"/>
            <a:ext cx="10728655" cy="365760"/>
          </a:xfrm>
          <a:prstGeom prst="rect">
            <a:avLst/>
          </a:prstGeom>
          <a:noFill/>
          <a:ln/>
        </p:spPr>
        <p:txBody>
          <a:bodyPr wrap="square" lIns="0" tIns="0" rIns="0" bIns="0" rtlCol="0" anchor="t"/>
          <a:lstStyle/>
          <a:p>
            <a:pPr algn="l" indent="0" marL="0">
              <a:buNone/>
            </a:pPr>
            <a:r>
              <a:rPr lang="en-US" sz="1600" b="1" dirty="0">
                <a:solidFill>
                  <a:schemeClr val="bg2"/>
                </a:solidFill>
              </a:rPr>
              <a:t>Dave and [Partner]</a:t>
            </a:r>
            <a:endParaRPr lang="en-US" sz="1600" dirty="0"/>
          </a:p>
        </p:txBody>
      </p:sp>
      <p:sp>
        <p:nvSpPr>
          <p:cNvPr id="7" name="Panel label 1"/>
          <p:cNvSpPr txBox="1"/>
          <p:nvPr/>
        </p:nvSpPr>
        <p:spPr>
          <a:xfrm>
            <a:off x="731520" y="4846320"/>
            <a:ext cx="3149498" cy="411480"/>
          </a:xfrm>
          <a:prstGeom prst="rect">
            <a:avLst/>
          </a:prstGeom>
          <a:noFill/>
          <a:ln/>
        </p:spPr>
        <p:txBody>
          <a:bodyPr wrap="square" lIns="0" tIns="0" rIns="0" bIns="0" rtlCol="0" anchor="t"/>
          <a:lstStyle/>
          <a:p>
            <a:pPr indent="0" marL="0">
              <a:buNone/>
            </a:pPr>
            <a:r>
              <a:rPr lang="en-US" sz="1600" b="1" dirty="0">
                <a:solidFill>
                  <a:schemeClr val="bg2"/>
                </a:solidFill>
              </a:rPr>
              <a:t>River · rowing</a:t>
            </a:r>
            <a:endParaRPr lang="en-US" sz="1600" dirty="0"/>
          </a:p>
        </p:txBody>
      </p:sp>
      <p:sp>
        <p:nvSpPr>
          <p:cNvPr id="8" name="Panel label 2"/>
          <p:cNvSpPr txBox="1"/>
          <p:nvPr/>
        </p:nvSpPr>
        <p:spPr>
          <a:xfrm>
            <a:off x="4795418" y="4846320"/>
            <a:ext cx="3149498" cy="411480"/>
          </a:xfrm>
          <a:prstGeom prst="rect">
            <a:avLst/>
          </a:prstGeom>
          <a:noFill/>
          <a:ln/>
        </p:spPr>
        <p:txBody>
          <a:bodyPr wrap="square" lIns="0" tIns="0" rIns="0" bIns="0" rtlCol="0" anchor="t"/>
          <a:lstStyle/>
          <a:p>
            <a:pPr indent="0" marL="0">
              <a:buNone/>
            </a:pPr>
            <a:r>
              <a:rPr lang="en-US" sz="1600" b="1" dirty="0">
                <a:solidFill>
                  <a:schemeClr val="bg2"/>
                </a:solidFill>
              </a:rPr>
              <a:t>Pool · swimming</a:t>
            </a:r>
            <a:endParaRPr lang="en-US" sz="1600" dirty="0"/>
          </a:p>
        </p:txBody>
      </p:sp>
      <p:sp>
        <p:nvSpPr>
          <p:cNvPr id="9" name="Panel label 3"/>
          <p:cNvSpPr txBox="1"/>
          <p:nvPr/>
        </p:nvSpPr>
        <p:spPr>
          <a:xfrm>
            <a:off x="8859317" y="4846320"/>
            <a:ext cx="3149498" cy="411480"/>
          </a:xfrm>
          <a:prstGeom prst="rect">
            <a:avLst/>
          </a:prstGeom>
          <a:noFill/>
          <a:ln/>
        </p:spPr>
        <p:txBody>
          <a:bodyPr wrap="square" lIns="0" tIns="0" rIns="0" bIns="0" rtlCol="0" anchor="t"/>
          <a:lstStyle/>
          <a:p>
            <a:pPr indent="0" marL="0">
              <a:buNone/>
            </a:pPr>
            <a:r>
              <a:rPr lang="en-US" sz="1600" b="1" dirty="0">
                <a:solidFill>
                  <a:schemeClr val="tx1"/>
                </a:solidFill>
              </a:rPr>
              <a:t>Beach · surfing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WHY WE CARE</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We arrived from Edinburgh, and the beach was the first thing we noticed</a:t>
            </a:r>
            <a:endParaRPr lang="en-US" sz="3600" dirty="0"/>
          </a:p>
        </p:txBody>
      </p:sp>
      <p:sp>
        <p:nvSpPr>
          <p:cNvPr id="4" name="Quote card 1"/>
          <p:cNvSpPr/>
          <p:nvPr/>
        </p:nvSpPr>
        <p:spPr>
          <a:xfrm>
            <a:off x="731520" y="2377440"/>
            <a:ext cx="5227168" cy="1965960"/>
          </a:xfrm>
          <a:prstGeom prst="roundRect">
            <a:avLst>
              <a:gd name="adj" fmla="val 4651"/>
            </a:avLst>
          </a:prstGeom>
          <a:solidFill>
            <a:schemeClr val="bg1"/>
          </a:solidFill>
          <a:ln/>
          <a:effectLst>
            <a:outerShdw sx="100000" sy="100000" kx="0" ky="0" algn="bl" rotWithShape="0" blurRad="101600" dist="25400" dir="5400000">
              <a:srgbClr val="10293A">
                <a:alpha val="8000"/>
              </a:srgbClr>
            </a:outerShdw>
          </a:effectLst>
        </p:spPr>
      </p:sp>
      <p:sp>
        <p:nvSpPr>
          <p:cNvPr id="5" name="Quote 1"/>
          <p:cNvSpPr txBox="1"/>
          <p:nvPr/>
        </p:nvSpPr>
        <p:spPr>
          <a:xfrm>
            <a:off x="1051560" y="2651760"/>
            <a:ext cx="4587088" cy="1143000"/>
          </a:xfrm>
          <a:prstGeom prst="rect">
            <a:avLst/>
          </a:prstGeom>
          <a:noFill/>
          <a:ln/>
        </p:spPr>
        <p:txBody>
          <a:bodyPr wrap="square" lIns="0" tIns="0" rIns="0" bIns="0" rtlCol="0" anchor="t"/>
          <a:lstStyle/>
          <a:p>
            <a:pPr indent="0" marL="0">
              <a:buNone/>
            </a:pPr>
            <a:r>
              <a:rPr lang="en-US" sz="1600" i="1" dirty="0">
                <a:solidFill>
                  <a:schemeClr val="tx1"/>
                </a:solidFill>
                <a:latin typeface="+mj-lt" pitchFamily="34" charset="0"/>
                <a:ea typeface="+mj-lt" pitchFamily="34" charset="-122"/>
                <a:cs typeface="+mj-lt" pitchFamily="34" charset="-120"/>
              </a:rPr>
              <a:t>“I learned to surf in North Wales, in water cold enough that you mostly think about your feet. Here, surfing feels like part of being Australian.”</a:t>
            </a:r>
            <a:endParaRPr lang="en-US" sz="1600" dirty="0"/>
          </a:p>
        </p:txBody>
      </p:sp>
      <p:sp>
        <p:nvSpPr>
          <p:cNvPr id="6" name="Quote dot 1"/>
          <p:cNvSpPr/>
          <p:nvPr/>
        </p:nvSpPr>
        <p:spPr>
          <a:xfrm>
            <a:off x="1051560" y="3995928"/>
            <a:ext cx="146304" cy="146304"/>
          </a:xfrm>
          <a:prstGeom prst="ellipse">
            <a:avLst/>
          </a:prstGeom>
          <a:solidFill>
            <a:schemeClr val="accent3"/>
          </a:solidFill>
          <a:ln/>
        </p:spPr>
      </p:sp>
      <p:sp>
        <p:nvSpPr>
          <p:cNvPr id="7" name="Quote attribution 1"/>
          <p:cNvSpPr txBox="1"/>
          <p:nvPr/>
        </p:nvSpPr>
        <p:spPr>
          <a:xfrm>
            <a:off x="1307592" y="3931920"/>
            <a:ext cx="4312768" cy="274320"/>
          </a:xfrm>
          <a:prstGeom prst="rect">
            <a:avLst/>
          </a:prstGeom>
          <a:noFill/>
          <a:ln/>
        </p:spPr>
        <p:txBody>
          <a:bodyPr wrap="square" lIns="0" tIns="0" rIns="0" bIns="0" rtlCol="0" anchor="ctr"/>
          <a:lstStyle/>
          <a:p>
            <a:pPr indent="0" marL="0">
              <a:buNone/>
            </a:pPr>
            <a:r>
              <a:rPr lang="en-US" sz="1200" b="1" dirty="0">
                <a:solidFill>
                  <a:schemeClr val="accent5"/>
                </a:solidFill>
              </a:rPr>
              <a:t>Dave · surfing and surf lifesaving</a:t>
            </a:r>
            <a:endParaRPr lang="en-US" sz="1200" dirty="0"/>
          </a:p>
        </p:txBody>
      </p:sp>
      <p:sp>
        <p:nvSpPr>
          <p:cNvPr id="8" name="Quote card 2"/>
          <p:cNvSpPr/>
          <p:nvPr/>
        </p:nvSpPr>
        <p:spPr>
          <a:xfrm>
            <a:off x="6233008" y="2377440"/>
            <a:ext cx="5227168" cy="1965960"/>
          </a:xfrm>
          <a:prstGeom prst="roundRect">
            <a:avLst>
              <a:gd name="adj" fmla="val 4651"/>
            </a:avLst>
          </a:prstGeom>
          <a:solidFill>
            <a:schemeClr val="bg1"/>
          </a:solidFill>
          <a:ln/>
          <a:effectLst>
            <a:outerShdw sx="100000" sy="100000" kx="0" ky="0" algn="bl" rotWithShape="0" blurRad="101600" dist="25400" dir="5400000">
              <a:srgbClr val="10293A">
                <a:alpha val="8000"/>
              </a:srgbClr>
            </a:outerShdw>
          </a:effectLst>
        </p:spPr>
      </p:sp>
      <p:sp>
        <p:nvSpPr>
          <p:cNvPr id="9" name="Quote 2"/>
          <p:cNvSpPr txBox="1"/>
          <p:nvPr/>
        </p:nvSpPr>
        <p:spPr>
          <a:xfrm>
            <a:off x="6553048" y="2651760"/>
            <a:ext cx="4587088" cy="1143000"/>
          </a:xfrm>
          <a:prstGeom prst="rect">
            <a:avLst/>
          </a:prstGeom>
          <a:noFill/>
          <a:ln/>
        </p:spPr>
        <p:txBody>
          <a:bodyPr wrap="square" lIns="0" tIns="0" rIns="0" bIns="0" rtlCol="0" anchor="t"/>
          <a:lstStyle/>
          <a:p>
            <a:pPr indent="0" marL="0">
              <a:buNone/>
            </a:pPr>
            <a:r>
              <a:rPr lang="en-US" sz="1600" i="1" dirty="0">
                <a:solidFill>
                  <a:schemeClr val="tx1"/>
                </a:solidFill>
                <a:latin typeface="+mj-lt" pitchFamily="34" charset="0"/>
                <a:ea typeface="+mj-lt" pitchFamily="34" charset="-122"/>
                <a:cs typeface="+mj-lt" pitchFamily="34" charset="-120"/>
              </a:rPr>
              <a:t>“[Partner: your own link to the river or the pool, in one or two sentences.]”</a:t>
            </a:r>
            <a:endParaRPr lang="en-US" sz="1600" dirty="0"/>
          </a:p>
        </p:txBody>
      </p:sp>
      <p:sp>
        <p:nvSpPr>
          <p:cNvPr id="10" name="Quote dot 2"/>
          <p:cNvSpPr/>
          <p:nvPr/>
        </p:nvSpPr>
        <p:spPr>
          <a:xfrm>
            <a:off x="6553048" y="3995928"/>
            <a:ext cx="146304" cy="146304"/>
          </a:xfrm>
          <a:prstGeom prst="ellipse">
            <a:avLst/>
          </a:prstGeom>
          <a:solidFill>
            <a:schemeClr val="accent1"/>
          </a:solidFill>
          <a:ln/>
        </p:spPr>
      </p:sp>
      <p:sp>
        <p:nvSpPr>
          <p:cNvPr id="11" name="Quote attribution 2"/>
          <p:cNvSpPr txBox="1"/>
          <p:nvPr/>
        </p:nvSpPr>
        <p:spPr>
          <a:xfrm>
            <a:off x="6809080" y="3931920"/>
            <a:ext cx="4312768" cy="274320"/>
          </a:xfrm>
          <a:prstGeom prst="rect">
            <a:avLst/>
          </a:prstGeom>
          <a:noFill/>
          <a:ln/>
        </p:spPr>
        <p:txBody>
          <a:bodyPr wrap="square" lIns="0" tIns="0" rIns="0" bIns="0" rtlCol="0" anchor="ctr"/>
          <a:lstStyle/>
          <a:p>
            <a:pPr indent="0" marL="0">
              <a:buNone/>
            </a:pPr>
            <a:r>
              <a:rPr lang="en-US" sz="1200" b="1" dirty="0">
                <a:solidFill>
                  <a:schemeClr val="accent5"/>
                </a:solidFill>
              </a:rPr>
              <a:t>[Partner] · rowing and pool swimming</a:t>
            </a:r>
            <a:endParaRPr lang="en-US" sz="1200" dirty="0"/>
          </a:p>
        </p:txBody>
      </p:sp>
      <p:sp>
        <p:nvSpPr>
          <p:cNvPr id="12" name="North Wales question"/>
          <p:cNvSpPr txBox="1"/>
          <p:nvPr/>
        </p:nvSpPr>
        <p:spPr>
          <a:xfrm>
            <a:off x="731520" y="4617720"/>
            <a:ext cx="10728655" cy="86868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Britain has surf culture too, so why did surfing become a national symbol here and not there?</a:t>
            </a:r>
            <a:endParaRPr lang="en-US" sz="2200" dirty="0"/>
          </a:p>
        </p:txBody>
      </p:sp>
      <p:sp>
        <p:nvSpPr>
          <p:cNvPr id="13"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WHY IT MATTERS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Three facts put the river back in the picture</a:t>
            </a:r>
            <a:endParaRPr lang="en-US" sz="3600" dirty="0"/>
          </a:p>
        </p:txBody>
      </p:sp>
      <p:sp>
        <p:nvSpPr>
          <p:cNvPr id="4" name="Fact card 1"/>
          <p:cNvSpPr/>
          <p:nvPr/>
        </p:nvSpPr>
        <p:spPr>
          <a:xfrm>
            <a:off x="731520" y="2377440"/>
            <a:ext cx="3393338" cy="3291840"/>
          </a:xfrm>
          <a:prstGeom prst="roundRect">
            <a:avLst>
              <a:gd name="adj" fmla="val 2778"/>
            </a:avLst>
          </a:prstGeom>
          <a:solidFill>
            <a:schemeClr val="bg1"/>
          </a:solidFill>
          <a:ln/>
          <a:effectLst>
            <a:outerShdw sx="100000" sy="100000" kx="0" ky="0" algn="bl" rotWithShape="0" blurRad="101600" dist="25400" dir="5400000">
              <a:srgbClr val="10293A">
                <a:alpha val="8000"/>
              </a:srgbClr>
            </a:outerShdw>
          </a:effectLst>
        </p:spPr>
      </p:sp>
      <p:sp>
        <p:nvSpPr>
          <p:cNvPr id="5" name="Fact dot 1"/>
          <p:cNvSpPr/>
          <p:nvPr/>
        </p:nvSpPr>
        <p:spPr>
          <a:xfrm>
            <a:off x="1097280" y="2761488"/>
            <a:ext cx="146304" cy="146304"/>
          </a:xfrm>
          <a:prstGeom prst="ellipse">
            <a:avLst/>
          </a:prstGeom>
          <a:solidFill>
            <a:schemeClr val="accent1"/>
          </a:solidFill>
          <a:ln/>
        </p:spPr>
      </p:sp>
      <p:sp>
        <p:nvSpPr>
          <p:cNvPr id="6" name="Fact label 1"/>
          <p:cNvSpPr txBox="1"/>
          <p:nvPr/>
        </p:nvSpPr>
        <p:spPr>
          <a:xfrm>
            <a:off x="1353312" y="2697480"/>
            <a:ext cx="247893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RIVER · THE PAST</a:t>
            </a:r>
            <a:endParaRPr lang="en-US" sz="1200" dirty="0"/>
          </a:p>
        </p:txBody>
      </p:sp>
      <p:sp>
        <p:nvSpPr>
          <p:cNvPr id="7" name="Fact number 1"/>
          <p:cNvSpPr txBox="1"/>
          <p:nvPr/>
        </p:nvSpPr>
        <p:spPr>
          <a:xfrm>
            <a:off x="1097280" y="3063240"/>
            <a:ext cx="2661818" cy="914400"/>
          </a:xfrm>
          <a:prstGeom prst="rect">
            <a:avLst/>
          </a:prstGeom>
          <a:noFill/>
          <a:ln/>
        </p:spPr>
        <p:txBody>
          <a:bodyPr wrap="square" lIns="0" tIns="0" rIns="0" bIns="0" rtlCol="0" anchor="ctr"/>
          <a:lstStyle/>
          <a:p>
            <a:pPr indent="0" marL="0">
              <a:buNone/>
            </a:pPr>
            <a:r>
              <a:rPr lang="en-US" sz="6000" b="1" dirty="0">
                <a:solidFill>
                  <a:schemeClr val="tx1"/>
                </a:solidFill>
                <a:latin typeface="+mj-lt" pitchFamily="34" charset="0"/>
                <a:ea typeface="+mj-lt" pitchFamily="34" charset="-122"/>
                <a:cs typeface="+mj-lt" pitchFamily="34" charset="-120"/>
              </a:rPr>
              <a:t>1876</a:t>
            </a:r>
            <a:endParaRPr lang="en-US" sz="6000" dirty="0"/>
          </a:p>
        </p:txBody>
      </p:sp>
      <p:sp>
        <p:nvSpPr>
          <p:cNvPr id="8" name="Fact text 1"/>
          <p:cNvSpPr txBox="1"/>
          <p:nvPr/>
        </p:nvSpPr>
        <p:spPr>
          <a:xfrm>
            <a:off x="1097280" y="4114800"/>
            <a:ext cx="2661818" cy="1325880"/>
          </a:xfrm>
          <a:prstGeom prst="rect">
            <a:avLst/>
          </a:prstGeom>
          <a:noFill/>
          <a:ln/>
        </p:spPr>
        <p:txBody>
          <a:bodyPr wrap="square" lIns="0" tIns="0" rIns="0" bIns="0" rtlCol="0" anchor="t"/>
          <a:lstStyle/>
          <a:p>
            <a:pPr indent="0" marL="0">
              <a:buNone/>
            </a:pPr>
            <a:r>
              <a:rPr lang="en-US" sz="1600" dirty="0">
                <a:solidFill>
                  <a:schemeClr val="tx2"/>
                </a:solidFill>
              </a:rPr>
              <a:t>Australia’s first world champion in any sport was a sculler, Ned Trickett, not a surfer</a:t>
            </a:r>
            <a:endParaRPr lang="en-US" sz="1600" dirty="0"/>
          </a:p>
        </p:txBody>
      </p:sp>
      <p:sp>
        <p:nvSpPr>
          <p:cNvPr id="9" name="Fact card 2"/>
          <p:cNvSpPr/>
          <p:nvPr/>
        </p:nvSpPr>
        <p:spPr>
          <a:xfrm>
            <a:off x="4399178" y="2377440"/>
            <a:ext cx="3393338" cy="3291840"/>
          </a:xfrm>
          <a:prstGeom prst="roundRect">
            <a:avLst>
              <a:gd name="adj" fmla="val 2778"/>
            </a:avLst>
          </a:prstGeom>
          <a:solidFill>
            <a:schemeClr val="bg1"/>
          </a:solidFill>
          <a:ln/>
          <a:effectLst>
            <a:outerShdw sx="100000" sy="100000" kx="0" ky="0" algn="bl" rotWithShape="0" blurRad="101600" dist="25400" dir="5400000">
              <a:srgbClr val="10293A">
                <a:alpha val="8000"/>
              </a:srgbClr>
            </a:outerShdw>
          </a:effectLst>
        </p:spPr>
      </p:sp>
      <p:sp>
        <p:nvSpPr>
          <p:cNvPr id="10" name="Fact dot 2"/>
          <p:cNvSpPr/>
          <p:nvPr/>
        </p:nvSpPr>
        <p:spPr>
          <a:xfrm>
            <a:off x="4764938" y="2761488"/>
            <a:ext cx="146304" cy="146304"/>
          </a:xfrm>
          <a:prstGeom prst="ellipse">
            <a:avLst/>
          </a:prstGeom>
          <a:solidFill>
            <a:schemeClr val="accent1"/>
          </a:solidFill>
          <a:ln/>
        </p:spPr>
      </p:sp>
      <p:sp>
        <p:nvSpPr>
          <p:cNvPr id="11" name="Fact label 2"/>
          <p:cNvSpPr txBox="1"/>
          <p:nvPr/>
        </p:nvSpPr>
        <p:spPr>
          <a:xfrm>
            <a:off x="5020970" y="2697480"/>
            <a:ext cx="247893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RIVER · THE FUTURE</a:t>
            </a:r>
            <a:endParaRPr lang="en-US" sz="1200" dirty="0"/>
          </a:p>
        </p:txBody>
      </p:sp>
      <p:sp>
        <p:nvSpPr>
          <p:cNvPr id="12" name="Fact number 2"/>
          <p:cNvSpPr txBox="1"/>
          <p:nvPr/>
        </p:nvSpPr>
        <p:spPr>
          <a:xfrm>
            <a:off x="4764938" y="3063240"/>
            <a:ext cx="2661818" cy="914400"/>
          </a:xfrm>
          <a:prstGeom prst="rect">
            <a:avLst/>
          </a:prstGeom>
          <a:noFill/>
          <a:ln/>
        </p:spPr>
        <p:txBody>
          <a:bodyPr wrap="square" lIns="0" tIns="0" rIns="0" bIns="0" rtlCol="0" anchor="ctr"/>
          <a:lstStyle/>
          <a:p>
            <a:pPr indent="0" marL="0">
              <a:buNone/>
            </a:pPr>
            <a:r>
              <a:rPr lang="en-US" sz="6000" b="1" dirty="0">
                <a:solidFill>
                  <a:schemeClr val="tx1"/>
                </a:solidFill>
                <a:latin typeface="+mj-lt" pitchFamily="34" charset="0"/>
                <a:ea typeface="+mj-lt" pitchFamily="34" charset="-122"/>
                <a:cs typeface="+mj-lt" pitchFamily="34" charset="-120"/>
              </a:rPr>
              <a:t>2032</a:t>
            </a:r>
            <a:endParaRPr lang="en-US" sz="6000" dirty="0"/>
          </a:p>
        </p:txBody>
      </p:sp>
      <p:sp>
        <p:nvSpPr>
          <p:cNvPr id="13" name="Fact text 2"/>
          <p:cNvSpPr txBox="1"/>
          <p:nvPr/>
        </p:nvSpPr>
        <p:spPr>
          <a:xfrm>
            <a:off x="4764938" y="4114800"/>
            <a:ext cx="2661818" cy="1325880"/>
          </a:xfrm>
          <a:prstGeom prst="rect">
            <a:avLst/>
          </a:prstGeom>
          <a:noFill/>
          <a:ln/>
        </p:spPr>
        <p:txBody>
          <a:bodyPr wrap="square" lIns="0" tIns="0" rIns="0" bIns="0" rtlCol="0" anchor="t"/>
          <a:lstStyle/>
          <a:p>
            <a:pPr indent="0" marL="0">
              <a:buNone/>
            </a:pPr>
            <a:r>
              <a:rPr lang="en-US" sz="1600" dirty="0">
                <a:solidFill>
                  <a:schemeClr val="tx2"/>
                </a:solidFill>
              </a:rPr>
              <a:t>The Brisbane Olympic rowing regatta will be held on a river, the Fitzroy</a:t>
            </a:r>
            <a:endParaRPr lang="en-US" sz="1600" dirty="0"/>
          </a:p>
        </p:txBody>
      </p:sp>
      <p:sp>
        <p:nvSpPr>
          <p:cNvPr id="14" name="Fact card 3"/>
          <p:cNvSpPr/>
          <p:nvPr/>
        </p:nvSpPr>
        <p:spPr>
          <a:xfrm>
            <a:off x="8066837" y="2377440"/>
            <a:ext cx="3393338" cy="3291840"/>
          </a:xfrm>
          <a:prstGeom prst="roundRect">
            <a:avLst>
              <a:gd name="adj" fmla="val 2778"/>
            </a:avLst>
          </a:prstGeom>
          <a:solidFill>
            <a:schemeClr val="bg1"/>
          </a:solidFill>
          <a:ln/>
          <a:effectLst>
            <a:outerShdw sx="100000" sy="100000" kx="0" ky="0" algn="bl" rotWithShape="0" blurRad="101600" dist="25400" dir="5400000">
              <a:srgbClr val="10293A">
                <a:alpha val="8000"/>
              </a:srgbClr>
            </a:outerShdw>
          </a:effectLst>
        </p:spPr>
      </p:sp>
      <p:sp>
        <p:nvSpPr>
          <p:cNvPr id="15" name="Fact dot 3"/>
          <p:cNvSpPr/>
          <p:nvPr/>
        </p:nvSpPr>
        <p:spPr>
          <a:xfrm>
            <a:off x="8432597" y="2761488"/>
            <a:ext cx="146304" cy="146304"/>
          </a:xfrm>
          <a:prstGeom prst="ellipse">
            <a:avLst/>
          </a:prstGeom>
          <a:solidFill>
            <a:schemeClr val="accent1"/>
          </a:solidFill>
          <a:ln/>
        </p:spPr>
      </p:sp>
      <p:sp>
        <p:nvSpPr>
          <p:cNvPr id="16" name="Fact label 3"/>
          <p:cNvSpPr txBox="1"/>
          <p:nvPr/>
        </p:nvSpPr>
        <p:spPr>
          <a:xfrm>
            <a:off x="8688629" y="2697480"/>
            <a:ext cx="247893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RIVER · TODAY</a:t>
            </a:r>
            <a:endParaRPr lang="en-US" sz="1200" dirty="0"/>
          </a:p>
        </p:txBody>
      </p:sp>
      <p:sp>
        <p:nvSpPr>
          <p:cNvPr id="17" name="Fact number 3"/>
          <p:cNvSpPr txBox="1"/>
          <p:nvPr/>
        </p:nvSpPr>
        <p:spPr>
          <a:xfrm>
            <a:off x="8432597" y="3063240"/>
            <a:ext cx="2661818" cy="914400"/>
          </a:xfrm>
          <a:prstGeom prst="rect">
            <a:avLst/>
          </a:prstGeom>
          <a:noFill/>
          <a:ln/>
        </p:spPr>
        <p:txBody>
          <a:bodyPr wrap="square" lIns="0" tIns="0" rIns="0" bIns="0" rtlCol="0" anchor="ctr"/>
          <a:lstStyle/>
          <a:p>
            <a:pPr indent="0" marL="0">
              <a:buNone/>
            </a:pPr>
            <a:r>
              <a:rPr lang="en-US" sz="6000" b="1" dirty="0">
                <a:solidFill>
                  <a:schemeClr val="tx1"/>
                </a:solidFill>
                <a:latin typeface="+mj-lt" pitchFamily="34" charset="0"/>
                <a:ea typeface="+mj-lt" pitchFamily="34" charset="-122"/>
                <a:cs typeface="+mj-lt" pitchFamily="34" charset="-120"/>
              </a:rPr>
              <a:t>357</a:t>
            </a:r>
            <a:endParaRPr lang="en-US" sz="6000" dirty="0"/>
          </a:p>
        </p:txBody>
      </p:sp>
      <p:sp>
        <p:nvSpPr>
          <p:cNvPr id="18" name="Fact text 3"/>
          <p:cNvSpPr txBox="1"/>
          <p:nvPr/>
        </p:nvSpPr>
        <p:spPr>
          <a:xfrm>
            <a:off x="8432597" y="4114800"/>
            <a:ext cx="2661818" cy="1325880"/>
          </a:xfrm>
          <a:prstGeom prst="rect">
            <a:avLst/>
          </a:prstGeom>
          <a:noFill/>
          <a:ln/>
        </p:spPr>
        <p:txBody>
          <a:bodyPr wrap="square" lIns="0" tIns="0" rIns="0" bIns="0" rtlCol="0" anchor="t"/>
          <a:lstStyle/>
          <a:p>
            <a:pPr indent="0" marL="0">
              <a:buNone/>
            </a:pPr>
            <a:r>
              <a:rPr lang="en-US" sz="1600" dirty="0">
                <a:solidFill>
                  <a:schemeClr val="tx2"/>
                </a:solidFill>
              </a:rPr>
              <a:t>drowning deaths in 2024–25, a record, and more in rivers than on beaches</a:t>
            </a:r>
            <a:endParaRPr lang="en-US" sz="1600" dirty="0"/>
          </a:p>
        </p:txBody>
      </p:sp>
      <p:sp>
        <p:nvSpPr>
          <p:cNvPr id="19"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Sources: [confirm] ADB (Trickett); Brisbane 2032 venue plan; Royal Life Saving National Drowning Report 2025</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OUR QUESTION</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bg2"/>
                </a:solidFill>
              </a:rPr>
              <a:t>What do rowing, swimming and surfing tell us about who counts as Australian?</a:t>
            </a:r>
            <a:endParaRPr lang="en-US" sz="3600" dirty="0"/>
          </a:p>
        </p:txBody>
      </p:sp>
      <p:sp>
        <p:nvSpPr>
          <p:cNvPr id="4" name="Definition"/>
          <p:cNvSpPr txBox="1"/>
          <p:nvPr/>
        </p:nvSpPr>
        <p:spPr>
          <a:xfrm>
            <a:off x="731520" y="2377440"/>
            <a:ext cx="10728655" cy="640080"/>
          </a:xfrm>
          <a:prstGeom prst="rect">
            <a:avLst/>
          </a:prstGeom>
          <a:noFill/>
          <a:ln/>
        </p:spPr>
        <p:txBody>
          <a:bodyPr wrap="square" lIns="0" tIns="0" rIns="0" bIns="0" rtlCol="0" anchor="t"/>
          <a:lstStyle/>
          <a:p>
            <a:pPr indent="0" marL="0">
              <a:buNone/>
            </a:pPr>
            <a:r>
              <a:rPr lang="en-US" sz="1600" b="1" dirty="0">
                <a:solidFill>
                  <a:schemeClr val="accent6"/>
                </a:solidFill>
              </a:rPr>
              <a:t>Definition: </a:t>
            </a:r>
            <a:pPr indent="0" marL="0">
              <a:buNone/>
            </a:pPr>
            <a:r>
              <a:rPr lang="en-US" sz="1600" dirty="0">
                <a:solidFill>
                  <a:schemeClr val="accent6"/>
                </a:solidFill>
              </a:rPr>
              <a:t>by Australian water sport culture we mean rowing, swimming and surfing, and what they have meant to people over time.</a:t>
            </a:r>
            <a:endParaRPr lang="en-US" sz="1600" dirty="0"/>
          </a:p>
        </p:txBody>
      </p:sp>
      <p:sp>
        <p:nvSpPr>
          <p:cNvPr id="5" name="Topic chip 1"/>
          <p:cNvSpPr/>
          <p:nvPr/>
        </p:nvSpPr>
        <p:spPr>
          <a:xfrm>
            <a:off x="731520" y="3200400"/>
            <a:ext cx="2510714" cy="1280160"/>
          </a:xfrm>
          <a:prstGeom prst="roundRect">
            <a:avLst>
              <a:gd name="adj" fmla="val 7143"/>
            </a:avLst>
          </a:prstGeom>
          <a:solidFill>
            <a:srgbClr val="163246"/>
          </a:solidFill>
          <a:ln w="19050">
            <a:solidFill>
              <a:srgbClr val="2D4A5C"/>
            </a:solidFill>
            <a:prstDash val="solid"/>
          </a:ln>
        </p:spPr>
      </p:sp>
      <p:sp>
        <p:nvSpPr>
          <p:cNvPr id="6" name="Topic number 1"/>
          <p:cNvSpPr txBox="1"/>
          <p:nvPr/>
        </p:nvSpPr>
        <p:spPr>
          <a:xfrm>
            <a:off x="1005840" y="3337560"/>
            <a:ext cx="548640" cy="411480"/>
          </a:xfrm>
          <a:prstGeom prst="rect">
            <a:avLst/>
          </a:prstGeom>
          <a:noFill/>
          <a:ln/>
        </p:spPr>
        <p:txBody>
          <a:bodyPr wrap="square" lIns="0" tIns="0" rIns="0" bIns="0" rtlCol="0" anchor="ctr"/>
          <a:lstStyle/>
          <a:p>
            <a:pPr indent="0" marL="0">
              <a:buNone/>
            </a:pPr>
            <a:r>
              <a:rPr lang="en-US" sz="2200" b="1" dirty="0">
                <a:solidFill>
                  <a:schemeClr val="accent3"/>
                </a:solidFill>
                <a:latin typeface="+mj-lt" pitchFamily="34" charset="0"/>
                <a:ea typeface="+mj-lt" pitchFamily="34" charset="-122"/>
                <a:cs typeface="+mj-lt" pitchFamily="34" charset="-120"/>
              </a:rPr>
              <a:t>1</a:t>
            </a:r>
            <a:endParaRPr lang="en-US" sz="2200" dirty="0"/>
          </a:p>
        </p:txBody>
      </p:sp>
      <p:sp>
        <p:nvSpPr>
          <p:cNvPr id="7" name="Topic name 1"/>
          <p:cNvSpPr txBox="1"/>
          <p:nvPr/>
        </p:nvSpPr>
        <p:spPr>
          <a:xfrm>
            <a:off x="1005840" y="3794760"/>
            <a:ext cx="1962074" cy="548640"/>
          </a:xfrm>
          <a:prstGeom prst="rect">
            <a:avLst/>
          </a:prstGeom>
          <a:noFill/>
          <a:ln/>
        </p:spPr>
        <p:txBody>
          <a:bodyPr wrap="square" lIns="0" tIns="0" rIns="0" bIns="0" rtlCol="0" anchor="t"/>
          <a:lstStyle/>
          <a:p>
            <a:pPr indent="0" marL="0">
              <a:buNone/>
            </a:pPr>
            <a:r>
              <a:rPr lang="en-US" sz="1600" b="1" dirty="0">
                <a:solidFill>
                  <a:schemeClr val="bg2"/>
                </a:solidFill>
              </a:rPr>
              <a:t>Class and institutions</a:t>
            </a:r>
            <a:endParaRPr lang="en-US" sz="1600" dirty="0"/>
          </a:p>
        </p:txBody>
      </p:sp>
      <p:sp>
        <p:nvSpPr>
          <p:cNvPr id="8" name="Topic chip 2"/>
          <p:cNvSpPr/>
          <p:nvPr/>
        </p:nvSpPr>
        <p:spPr>
          <a:xfrm>
            <a:off x="3470834" y="3200400"/>
            <a:ext cx="2510714" cy="1280160"/>
          </a:xfrm>
          <a:prstGeom prst="roundRect">
            <a:avLst>
              <a:gd name="adj" fmla="val 7143"/>
            </a:avLst>
          </a:prstGeom>
          <a:solidFill>
            <a:srgbClr val="163246"/>
          </a:solidFill>
          <a:ln w="19050">
            <a:solidFill>
              <a:srgbClr val="2D4A5C"/>
            </a:solidFill>
            <a:prstDash val="solid"/>
          </a:ln>
        </p:spPr>
      </p:sp>
      <p:sp>
        <p:nvSpPr>
          <p:cNvPr id="9" name="Topic number 2"/>
          <p:cNvSpPr txBox="1"/>
          <p:nvPr/>
        </p:nvSpPr>
        <p:spPr>
          <a:xfrm>
            <a:off x="3745154" y="3337560"/>
            <a:ext cx="548640" cy="411480"/>
          </a:xfrm>
          <a:prstGeom prst="rect">
            <a:avLst/>
          </a:prstGeom>
          <a:noFill/>
          <a:ln/>
        </p:spPr>
        <p:txBody>
          <a:bodyPr wrap="square" lIns="0" tIns="0" rIns="0" bIns="0" rtlCol="0" anchor="ctr"/>
          <a:lstStyle/>
          <a:p>
            <a:pPr indent="0" marL="0">
              <a:buNone/>
            </a:pPr>
            <a:r>
              <a:rPr lang="en-US" sz="2200" b="1" dirty="0">
                <a:solidFill>
                  <a:schemeClr val="accent3"/>
                </a:solidFill>
                <a:latin typeface="+mj-lt" pitchFamily="34" charset="0"/>
                <a:ea typeface="+mj-lt" pitchFamily="34" charset="-122"/>
                <a:cs typeface="+mj-lt" pitchFamily="34" charset="-120"/>
              </a:rPr>
              <a:t>2</a:t>
            </a:r>
            <a:endParaRPr lang="en-US" sz="2200" dirty="0"/>
          </a:p>
        </p:txBody>
      </p:sp>
      <p:sp>
        <p:nvSpPr>
          <p:cNvPr id="10" name="Topic name 2"/>
          <p:cNvSpPr txBox="1"/>
          <p:nvPr/>
        </p:nvSpPr>
        <p:spPr>
          <a:xfrm>
            <a:off x="3745154" y="3794760"/>
            <a:ext cx="1962074" cy="548640"/>
          </a:xfrm>
          <a:prstGeom prst="rect">
            <a:avLst/>
          </a:prstGeom>
          <a:noFill/>
          <a:ln/>
        </p:spPr>
        <p:txBody>
          <a:bodyPr wrap="square" lIns="0" tIns="0" rIns="0" bIns="0" rtlCol="0" anchor="t"/>
          <a:lstStyle/>
          <a:p>
            <a:pPr indent="0" marL="0">
              <a:buNone/>
            </a:pPr>
            <a:r>
              <a:rPr lang="en-US" sz="1600" b="1" dirty="0">
                <a:solidFill>
                  <a:schemeClr val="bg2"/>
                </a:solidFill>
              </a:rPr>
              <a:t>Bodies and gender</a:t>
            </a:r>
            <a:endParaRPr lang="en-US" sz="1600" dirty="0"/>
          </a:p>
        </p:txBody>
      </p:sp>
      <p:sp>
        <p:nvSpPr>
          <p:cNvPr id="11" name="Topic chip 3"/>
          <p:cNvSpPr/>
          <p:nvPr/>
        </p:nvSpPr>
        <p:spPr>
          <a:xfrm>
            <a:off x="6210148" y="3200400"/>
            <a:ext cx="2510714" cy="1280160"/>
          </a:xfrm>
          <a:prstGeom prst="roundRect">
            <a:avLst>
              <a:gd name="adj" fmla="val 7143"/>
            </a:avLst>
          </a:prstGeom>
          <a:solidFill>
            <a:srgbClr val="163246"/>
          </a:solidFill>
          <a:ln w="19050">
            <a:solidFill>
              <a:srgbClr val="2D4A5C"/>
            </a:solidFill>
            <a:prstDash val="solid"/>
          </a:ln>
        </p:spPr>
      </p:sp>
      <p:sp>
        <p:nvSpPr>
          <p:cNvPr id="12" name="Topic number 3"/>
          <p:cNvSpPr txBox="1"/>
          <p:nvPr/>
        </p:nvSpPr>
        <p:spPr>
          <a:xfrm>
            <a:off x="6484468" y="3337560"/>
            <a:ext cx="548640" cy="411480"/>
          </a:xfrm>
          <a:prstGeom prst="rect">
            <a:avLst/>
          </a:prstGeom>
          <a:noFill/>
          <a:ln/>
        </p:spPr>
        <p:txBody>
          <a:bodyPr wrap="square" lIns="0" tIns="0" rIns="0" bIns="0" rtlCol="0" anchor="ctr"/>
          <a:lstStyle/>
          <a:p>
            <a:pPr indent="0" marL="0">
              <a:buNone/>
            </a:pPr>
            <a:r>
              <a:rPr lang="en-US" sz="2200" b="1" dirty="0">
                <a:solidFill>
                  <a:schemeClr val="accent3"/>
                </a:solidFill>
                <a:latin typeface="+mj-lt" pitchFamily="34" charset="0"/>
                <a:ea typeface="+mj-lt" pitchFamily="34" charset="-122"/>
                <a:cs typeface="+mj-lt" pitchFamily="34" charset="-120"/>
              </a:rPr>
              <a:t>3</a:t>
            </a:r>
            <a:endParaRPr lang="en-US" sz="2200" dirty="0"/>
          </a:p>
        </p:txBody>
      </p:sp>
      <p:sp>
        <p:nvSpPr>
          <p:cNvPr id="13" name="Topic name 3"/>
          <p:cNvSpPr txBox="1"/>
          <p:nvPr/>
        </p:nvSpPr>
        <p:spPr>
          <a:xfrm>
            <a:off x="6484468" y="3794760"/>
            <a:ext cx="1962074" cy="548640"/>
          </a:xfrm>
          <a:prstGeom prst="rect">
            <a:avLst/>
          </a:prstGeom>
          <a:noFill/>
          <a:ln/>
        </p:spPr>
        <p:txBody>
          <a:bodyPr wrap="square" lIns="0" tIns="0" rIns="0" bIns="0" rtlCol="0" anchor="t"/>
          <a:lstStyle/>
          <a:p>
            <a:pPr indent="0" marL="0">
              <a:buNone/>
            </a:pPr>
            <a:r>
              <a:rPr lang="en-US" sz="1600" b="1" dirty="0">
                <a:solidFill>
                  <a:schemeClr val="bg2"/>
                </a:solidFill>
              </a:rPr>
              <a:t>National pride and the Olympics</a:t>
            </a:r>
            <a:endParaRPr lang="en-US" sz="1600" dirty="0"/>
          </a:p>
        </p:txBody>
      </p:sp>
      <p:sp>
        <p:nvSpPr>
          <p:cNvPr id="14" name="Topic chip 4"/>
          <p:cNvSpPr/>
          <p:nvPr/>
        </p:nvSpPr>
        <p:spPr>
          <a:xfrm>
            <a:off x="8949461" y="3200400"/>
            <a:ext cx="2510714" cy="1280160"/>
          </a:xfrm>
          <a:prstGeom prst="roundRect">
            <a:avLst>
              <a:gd name="adj" fmla="val 7143"/>
            </a:avLst>
          </a:prstGeom>
          <a:solidFill>
            <a:srgbClr val="163246"/>
          </a:solidFill>
          <a:ln w="19050">
            <a:solidFill>
              <a:srgbClr val="2D4A5C"/>
            </a:solidFill>
            <a:prstDash val="solid"/>
          </a:ln>
        </p:spPr>
      </p:sp>
      <p:sp>
        <p:nvSpPr>
          <p:cNvPr id="15" name="Topic number 4"/>
          <p:cNvSpPr txBox="1"/>
          <p:nvPr/>
        </p:nvSpPr>
        <p:spPr>
          <a:xfrm>
            <a:off x="9223781" y="3337560"/>
            <a:ext cx="548640" cy="411480"/>
          </a:xfrm>
          <a:prstGeom prst="rect">
            <a:avLst/>
          </a:prstGeom>
          <a:noFill/>
          <a:ln/>
        </p:spPr>
        <p:txBody>
          <a:bodyPr wrap="square" lIns="0" tIns="0" rIns="0" bIns="0" rtlCol="0" anchor="ctr"/>
          <a:lstStyle/>
          <a:p>
            <a:pPr indent="0" marL="0">
              <a:buNone/>
            </a:pPr>
            <a:r>
              <a:rPr lang="en-US" sz="2200" b="1" dirty="0">
                <a:solidFill>
                  <a:schemeClr val="accent3"/>
                </a:solidFill>
                <a:latin typeface="+mj-lt" pitchFamily="34" charset="0"/>
                <a:ea typeface="+mj-lt" pitchFamily="34" charset="-122"/>
                <a:cs typeface="+mj-lt" pitchFamily="34" charset="-120"/>
              </a:rPr>
              <a:t>4</a:t>
            </a:r>
            <a:endParaRPr lang="en-US" sz="2200" dirty="0"/>
          </a:p>
        </p:txBody>
      </p:sp>
      <p:sp>
        <p:nvSpPr>
          <p:cNvPr id="16" name="Topic name 4"/>
          <p:cNvSpPr txBox="1"/>
          <p:nvPr/>
        </p:nvSpPr>
        <p:spPr>
          <a:xfrm>
            <a:off x="9223781" y="3794760"/>
            <a:ext cx="1962074" cy="548640"/>
          </a:xfrm>
          <a:prstGeom prst="rect">
            <a:avLst/>
          </a:prstGeom>
          <a:noFill/>
          <a:ln/>
        </p:spPr>
        <p:txBody>
          <a:bodyPr wrap="square" lIns="0" tIns="0" rIns="0" bIns="0" rtlCol="0" anchor="t"/>
          <a:lstStyle/>
          <a:p>
            <a:pPr indent="0" marL="0">
              <a:buNone/>
            </a:pPr>
            <a:r>
              <a:rPr lang="en-US" sz="1600" b="1" dirty="0">
                <a:solidFill>
                  <a:schemeClr val="bg2"/>
                </a:solidFill>
              </a:rPr>
              <a:t>Race and access</a:t>
            </a:r>
            <a:endParaRPr lang="en-US" sz="1600" dirty="0"/>
          </a:p>
        </p:txBody>
      </p:sp>
      <p:sp>
        <p:nvSpPr>
          <p:cNvPr id="17" name="Hunch"/>
          <p:cNvSpPr txBox="1"/>
          <p:nvPr/>
        </p:nvSpPr>
        <p:spPr>
          <a:xfrm>
            <a:off x="731520" y="4754880"/>
            <a:ext cx="10728655" cy="640080"/>
          </a:xfrm>
          <a:prstGeom prst="rect">
            <a:avLst/>
          </a:prstGeom>
          <a:noFill/>
          <a:ln/>
        </p:spPr>
        <p:txBody>
          <a:bodyPr wrap="square" lIns="0" tIns="0" rIns="0" bIns="0" rtlCol="0" anchor="t"/>
          <a:lstStyle/>
          <a:p>
            <a:pPr indent="0" marL="0">
              <a:buNone/>
            </a:pPr>
            <a:r>
              <a:rPr lang="en-US" sz="1600" b="1" dirty="0">
                <a:solidFill>
                  <a:schemeClr val="accent6"/>
                </a:solidFill>
              </a:rPr>
              <a:t>Our hunch, to test: </a:t>
            </a:r>
            <a:pPr indent="0" marL="0">
              <a:buNone/>
            </a:pPr>
            <a:r>
              <a:rPr lang="en-US" sz="1600" dirty="0">
                <a:solidFill>
                  <a:schemeClr val="accent6"/>
                </a:solidFill>
              </a:rPr>
              <a:t>each sport tells a different story about belonging, so the “beach nation” is only part of the picture.</a:t>
            </a:r>
            <a:endParaRPr lang="en-US" sz="1600" dirty="0"/>
          </a:p>
        </p:txBody>
      </p:sp>
      <p:sp>
        <p:nvSpPr>
          <p:cNvPr id="18"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6"/>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TOPIC 1 OF 4 · CLASS AND INSTITUTIONS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Amateur rules kept workers out, yet sculling drew the first mass crowds</a:t>
            </a:r>
            <a:endParaRPr lang="en-US" sz="3600" dirty="0"/>
          </a:p>
        </p:txBody>
      </p:sp>
      <p:sp>
        <p:nvSpPr>
          <p:cNvPr id="4" name="rowing card"/>
          <p:cNvSpPr/>
          <p:nvPr/>
        </p:nvSpPr>
        <p:spPr>
          <a:xfrm>
            <a:off x="731520"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5" name="rowing dot"/>
          <p:cNvSpPr/>
          <p:nvPr/>
        </p:nvSpPr>
        <p:spPr>
          <a:xfrm>
            <a:off x="1051560" y="2715768"/>
            <a:ext cx="146304" cy="146304"/>
          </a:xfrm>
          <a:prstGeom prst="ellipse">
            <a:avLst/>
          </a:prstGeom>
          <a:solidFill>
            <a:schemeClr val="accent1"/>
          </a:solidFill>
          <a:ln/>
        </p:spPr>
      </p:sp>
      <p:sp>
        <p:nvSpPr>
          <p:cNvPr id="6" name="rowing label"/>
          <p:cNvSpPr txBox="1"/>
          <p:nvPr/>
        </p:nvSpPr>
        <p:spPr>
          <a:xfrm>
            <a:off x="1307592"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ROWING · RIVER</a:t>
            </a:r>
            <a:endParaRPr lang="en-US" sz="1200" dirty="0"/>
          </a:p>
        </p:txBody>
      </p:sp>
      <p:sp>
        <p:nvSpPr>
          <p:cNvPr id="7" name="rowing evidence"/>
          <p:cNvSpPr txBox="1"/>
          <p:nvPr/>
        </p:nvSpPr>
        <p:spPr>
          <a:xfrm>
            <a:off x="1051560"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Bobby Pearce was barred from Henley’s Diamond Sculls as a carpenter, 1928</a:t>
            </a:r>
            <a:endParaRPr lang="en-US" sz="1600" dirty="0"/>
          </a:p>
        </p:txBody>
      </p:sp>
      <p:sp>
        <p:nvSpPr>
          <p:cNvPr id="8" name="swimming card"/>
          <p:cNvSpPr/>
          <p:nvPr/>
        </p:nvSpPr>
        <p:spPr>
          <a:xfrm>
            <a:off x="4399178"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9" name="swimming dot"/>
          <p:cNvSpPr/>
          <p:nvPr/>
        </p:nvSpPr>
        <p:spPr>
          <a:xfrm>
            <a:off x="4719218" y="2715768"/>
            <a:ext cx="146304" cy="146304"/>
          </a:xfrm>
          <a:prstGeom prst="ellipse">
            <a:avLst/>
          </a:prstGeom>
          <a:solidFill>
            <a:schemeClr val="accent2"/>
          </a:solidFill>
          <a:ln/>
        </p:spPr>
      </p:sp>
      <p:sp>
        <p:nvSpPr>
          <p:cNvPr id="10" name="swimming label"/>
          <p:cNvSpPr txBox="1"/>
          <p:nvPr/>
        </p:nvSpPr>
        <p:spPr>
          <a:xfrm>
            <a:off x="4975250"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SWIMMING · POOL</a:t>
            </a:r>
            <a:endParaRPr lang="en-US" sz="1200" dirty="0"/>
          </a:p>
        </p:txBody>
      </p:sp>
      <p:sp>
        <p:nvSpPr>
          <p:cNvPr id="11" name="swimming evidence"/>
          <p:cNvSpPr txBox="1"/>
          <p:nvPr/>
        </p:nvSpPr>
        <p:spPr>
          <a:xfrm>
            <a:off x="4719218"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Drowning rates today are double in disadvantaged areas</a:t>
            </a:r>
            <a:endParaRPr lang="en-US" sz="1600" dirty="0"/>
          </a:p>
        </p:txBody>
      </p:sp>
      <p:sp>
        <p:nvSpPr>
          <p:cNvPr id="12" name="surfing card"/>
          <p:cNvSpPr/>
          <p:nvPr/>
        </p:nvSpPr>
        <p:spPr>
          <a:xfrm>
            <a:off x="8066837"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13" name="surfing dot"/>
          <p:cNvSpPr/>
          <p:nvPr/>
        </p:nvSpPr>
        <p:spPr>
          <a:xfrm>
            <a:off x="8386877" y="2715768"/>
            <a:ext cx="146304" cy="146304"/>
          </a:xfrm>
          <a:prstGeom prst="ellipse">
            <a:avLst/>
          </a:prstGeom>
          <a:solidFill>
            <a:schemeClr val="accent3"/>
          </a:solidFill>
          <a:ln/>
        </p:spPr>
      </p:sp>
      <p:sp>
        <p:nvSpPr>
          <p:cNvPr id="14" name="surfing label"/>
          <p:cNvSpPr txBox="1"/>
          <p:nvPr/>
        </p:nvSpPr>
        <p:spPr>
          <a:xfrm>
            <a:off x="8642909"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SURFING · BEACH</a:t>
            </a:r>
            <a:endParaRPr lang="en-US" sz="1200" dirty="0"/>
          </a:p>
        </p:txBody>
      </p:sp>
      <p:sp>
        <p:nvSpPr>
          <p:cNvPr id="15" name="surfing evidence"/>
          <p:cNvSpPr txBox="1"/>
          <p:nvPr/>
        </p:nvSpPr>
        <p:spPr>
          <a:xfrm>
            <a:off x="8386877"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Surfers rejected the discipline of the lifesaving clubs</a:t>
            </a:r>
            <a:endParaRPr lang="en-US" sz="1600" dirty="0"/>
          </a:p>
        </p:txBody>
      </p:sp>
      <p:sp>
        <p:nvSpPr>
          <p:cNvPr id="16" name="Literature box"/>
          <p:cNvSpPr/>
          <p:nvPr/>
        </p:nvSpPr>
        <p:spPr>
          <a:xfrm>
            <a:off x="731520" y="4754880"/>
            <a:ext cx="10728655" cy="1097280"/>
          </a:xfrm>
          <a:prstGeom prst="roundRect">
            <a:avLst>
              <a:gd name="adj" fmla="val 8333"/>
            </a:avLst>
          </a:prstGeom>
          <a:solidFill>
            <a:srgbClr val="EDE6D8"/>
          </a:solidFill>
          <a:ln/>
        </p:spPr>
      </p:sp>
      <p:sp>
        <p:nvSpPr>
          <p:cNvPr id="17" name="Literature"/>
          <p:cNvSpPr txBox="1"/>
          <p:nvPr/>
        </p:nvSpPr>
        <p:spPr>
          <a:xfrm>
            <a:off x="1051560" y="4892040"/>
            <a:ext cx="10088575" cy="82296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In the literature: </a:t>
            </a:r>
            <a:pPr indent="0" marL="0">
              <a:spcAft>
                <a:spcPts val="400"/>
              </a:spcAft>
              <a:buNone/>
            </a:pPr>
            <a:r>
              <a:rPr lang="en-US" sz="1600" dirty="0">
                <a:solidFill>
                  <a:schemeClr val="tx1"/>
                </a:solidFill>
              </a:rPr>
              <a:t>Cashman (1995); Vamplew &amp; Stoddart (1994); Bennett (1973)</a:t>
            </a:r>
            <a:endParaRPr lang="en-US" sz="1600" dirty="0"/>
          </a:p>
          <a:p>
            <a:pPr indent="0" marL="0">
              <a:spcAft>
                <a:spcPts val="400"/>
              </a:spcAft>
              <a:buNone/>
            </a:pPr>
            <a:r>
              <a:rPr lang="en-US" sz="1200" dirty="0">
                <a:solidFill>
                  <a:schemeClr val="accent5"/>
                </a:solidFill>
              </a:rPr>
              <a:t>[Where these authors disagree, in one line]</a:t>
            </a:r>
            <a:endParaRPr lang="en-US" sz="1600" dirty="0"/>
          </a:p>
        </p:txBody>
      </p:sp>
      <p:sp>
        <p:nvSpPr>
          <p:cNvPr id="18"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TOPIC 2 OF 4 · BODIES AND GENDER</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The water’s edge is where bodies were shown off and policed</a:t>
            </a:r>
            <a:endParaRPr lang="en-US" sz="3600" dirty="0"/>
          </a:p>
        </p:txBody>
      </p:sp>
      <p:sp>
        <p:nvSpPr>
          <p:cNvPr id="4" name="rowing card"/>
          <p:cNvSpPr/>
          <p:nvPr/>
        </p:nvSpPr>
        <p:spPr>
          <a:xfrm>
            <a:off x="731520"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5" name="rowing dot"/>
          <p:cNvSpPr/>
          <p:nvPr/>
        </p:nvSpPr>
        <p:spPr>
          <a:xfrm>
            <a:off x="1051560" y="2715768"/>
            <a:ext cx="146304" cy="146304"/>
          </a:xfrm>
          <a:prstGeom prst="ellipse">
            <a:avLst/>
          </a:prstGeom>
          <a:solidFill>
            <a:schemeClr val="accent1"/>
          </a:solidFill>
          <a:ln/>
        </p:spPr>
      </p:sp>
      <p:sp>
        <p:nvSpPr>
          <p:cNvPr id="6" name="rowing label"/>
          <p:cNvSpPr txBox="1"/>
          <p:nvPr/>
        </p:nvSpPr>
        <p:spPr>
          <a:xfrm>
            <a:off x="1307592"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ROWING · RIVER</a:t>
            </a:r>
            <a:endParaRPr lang="en-US" sz="1200" dirty="0"/>
          </a:p>
        </p:txBody>
      </p:sp>
      <p:sp>
        <p:nvSpPr>
          <p:cNvPr id="7" name="rowing evidence"/>
          <p:cNvSpPr txBox="1"/>
          <p:nvPr/>
        </p:nvSpPr>
        <p:spPr>
          <a:xfrm>
            <a:off x="1051560"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“Ladies’ sculling” was treated as a novelty in the 1900s</a:t>
            </a:r>
            <a:endParaRPr lang="en-US" sz="1600" dirty="0"/>
          </a:p>
        </p:txBody>
      </p:sp>
      <p:sp>
        <p:nvSpPr>
          <p:cNvPr id="8" name="swimming card"/>
          <p:cNvSpPr/>
          <p:nvPr/>
        </p:nvSpPr>
        <p:spPr>
          <a:xfrm>
            <a:off x="4399178"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9" name="swimming dot"/>
          <p:cNvSpPr/>
          <p:nvPr/>
        </p:nvSpPr>
        <p:spPr>
          <a:xfrm>
            <a:off x="4719218" y="2715768"/>
            <a:ext cx="146304" cy="146304"/>
          </a:xfrm>
          <a:prstGeom prst="ellipse">
            <a:avLst/>
          </a:prstGeom>
          <a:solidFill>
            <a:schemeClr val="accent2"/>
          </a:solidFill>
          <a:ln/>
        </p:spPr>
      </p:sp>
      <p:sp>
        <p:nvSpPr>
          <p:cNvPr id="10" name="swimming label"/>
          <p:cNvSpPr txBox="1"/>
          <p:nvPr/>
        </p:nvSpPr>
        <p:spPr>
          <a:xfrm>
            <a:off x="4975250"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SWIMMING · POOL</a:t>
            </a:r>
            <a:endParaRPr lang="en-US" sz="1200" dirty="0"/>
          </a:p>
        </p:txBody>
      </p:sp>
      <p:sp>
        <p:nvSpPr>
          <p:cNvPr id="11" name="swimming evidence"/>
          <p:cNvSpPr txBox="1"/>
          <p:nvPr/>
        </p:nvSpPr>
        <p:spPr>
          <a:xfrm>
            <a:off x="4719218"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Kellerman arrested over a one-piece costume, 1907; Durack and Wylie at Stockholm, 1912</a:t>
            </a:r>
            <a:endParaRPr lang="en-US" sz="1600" dirty="0"/>
          </a:p>
        </p:txBody>
      </p:sp>
      <p:sp>
        <p:nvSpPr>
          <p:cNvPr id="12" name="surfing card"/>
          <p:cNvSpPr/>
          <p:nvPr/>
        </p:nvSpPr>
        <p:spPr>
          <a:xfrm>
            <a:off x="8066837"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13" name="surfing dot"/>
          <p:cNvSpPr/>
          <p:nvPr/>
        </p:nvSpPr>
        <p:spPr>
          <a:xfrm>
            <a:off x="8386877" y="2715768"/>
            <a:ext cx="146304" cy="146304"/>
          </a:xfrm>
          <a:prstGeom prst="ellipse">
            <a:avLst/>
          </a:prstGeom>
          <a:solidFill>
            <a:schemeClr val="accent3"/>
          </a:solidFill>
          <a:ln/>
        </p:spPr>
      </p:sp>
      <p:sp>
        <p:nvSpPr>
          <p:cNvPr id="14" name="surfing label"/>
          <p:cNvSpPr txBox="1"/>
          <p:nvPr/>
        </p:nvSpPr>
        <p:spPr>
          <a:xfrm>
            <a:off x="8642909"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SURFING · BEACH</a:t>
            </a:r>
            <a:endParaRPr lang="en-US" sz="1200" dirty="0"/>
          </a:p>
        </p:txBody>
      </p:sp>
      <p:sp>
        <p:nvSpPr>
          <p:cNvPr id="15" name="surfing evidence"/>
          <p:cNvSpPr txBox="1"/>
          <p:nvPr/>
        </p:nvSpPr>
        <p:spPr>
          <a:xfrm>
            <a:off x="8386877"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Women first gained the lifesaving Bronze Medallion in 1980</a:t>
            </a:r>
            <a:endParaRPr lang="en-US" sz="1600" dirty="0"/>
          </a:p>
        </p:txBody>
      </p:sp>
      <p:sp>
        <p:nvSpPr>
          <p:cNvPr id="16" name="Literature box"/>
          <p:cNvSpPr/>
          <p:nvPr/>
        </p:nvSpPr>
        <p:spPr>
          <a:xfrm>
            <a:off x="731520" y="4754880"/>
            <a:ext cx="10728655" cy="1097280"/>
          </a:xfrm>
          <a:prstGeom prst="roundRect">
            <a:avLst>
              <a:gd name="adj" fmla="val 8333"/>
            </a:avLst>
          </a:prstGeom>
          <a:solidFill>
            <a:srgbClr val="EDE6D8"/>
          </a:solidFill>
          <a:ln/>
        </p:spPr>
      </p:sp>
      <p:sp>
        <p:nvSpPr>
          <p:cNvPr id="17" name="Literature"/>
          <p:cNvSpPr txBox="1"/>
          <p:nvPr/>
        </p:nvSpPr>
        <p:spPr>
          <a:xfrm>
            <a:off x="1051560" y="4892040"/>
            <a:ext cx="10088575" cy="82296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In the literature: </a:t>
            </a:r>
            <a:pPr indent="0" marL="0">
              <a:spcAft>
                <a:spcPts val="400"/>
              </a:spcAft>
              <a:buNone/>
            </a:pPr>
            <a:r>
              <a:rPr lang="en-US" sz="1600" dirty="0">
                <a:solidFill>
                  <a:schemeClr val="tx1"/>
                </a:solidFill>
              </a:rPr>
              <a:t>Booth (2001); Stell (1991); Jaggard (ed.) (2006)</a:t>
            </a:r>
            <a:endParaRPr lang="en-US" sz="1600" dirty="0"/>
          </a:p>
          <a:p>
            <a:pPr indent="0" marL="0">
              <a:spcAft>
                <a:spcPts val="400"/>
              </a:spcAft>
              <a:buNone/>
            </a:pPr>
            <a:r>
              <a:rPr lang="en-US" sz="1200" dirty="0">
                <a:solidFill>
                  <a:schemeClr val="accent5"/>
                </a:solidFill>
              </a:rPr>
              <a:t>[Where these authors disagree, in one line]</a:t>
            </a:r>
            <a:endParaRPr lang="en-US" sz="1600" dirty="0"/>
          </a:p>
        </p:txBody>
      </p:sp>
      <p:sp>
        <p:nvSpPr>
          <p:cNvPr id="18"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TOPIC 3 OF 4 · NATIONAL PRIDE AND THE OLYMPICS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Rowing and swimming became Olympic projects; surfing resisted, then joined</a:t>
            </a:r>
            <a:endParaRPr lang="en-US" sz="3600" dirty="0"/>
          </a:p>
        </p:txBody>
      </p:sp>
      <p:sp>
        <p:nvSpPr>
          <p:cNvPr id="4" name="rowing card"/>
          <p:cNvSpPr/>
          <p:nvPr/>
        </p:nvSpPr>
        <p:spPr>
          <a:xfrm>
            <a:off x="731520"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5" name="rowing dot"/>
          <p:cNvSpPr/>
          <p:nvPr/>
        </p:nvSpPr>
        <p:spPr>
          <a:xfrm>
            <a:off x="1051560" y="2715768"/>
            <a:ext cx="146304" cy="146304"/>
          </a:xfrm>
          <a:prstGeom prst="ellipse">
            <a:avLst/>
          </a:prstGeom>
          <a:solidFill>
            <a:schemeClr val="accent1"/>
          </a:solidFill>
          <a:ln/>
        </p:spPr>
      </p:sp>
      <p:sp>
        <p:nvSpPr>
          <p:cNvPr id="6" name="rowing label"/>
          <p:cNvSpPr txBox="1"/>
          <p:nvPr/>
        </p:nvSpPr>
        <p:spPr>
          <a:xfrm>
            <a:off x="1307592"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ROWING · RIVER</a:t>
            </a:r>
            <a:endParaRPr lang="en-US" sz="1200" dirty="0"/>
          </a:p>
        </p:txBody>
      </p:sp>
      <p:sp>
        <p:nvSpPr>
          <p:cNvPr id="7" name="rowing evidence"/>
          <p:cNvSpPr txBox="1"/>
          <p:nvPr/>
        </p:nvSpPr>
        <p:spPr>
          <a:xfrm>
            <a:off x="1051560"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Ned Trickett, world champion, 1876; the 2032 regatta on the Fitzroy River</a:t>
            </a:r>
            <a:endParaRPr lang="en-US" sz="1600" dirty="0"/>
          </a:p>
        </p:txBody>
      </p:sp>
      <p:sp>
        <p:nvSpPr>
          <p:cNvPr id="8" name="swimming card"/>
          <p:cNvSpPr/>
          <p:nvPr/>
        </p:nvSpPr>
        <p:spPr>
          <a:xfrm>
            <a:off x="4399178"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9" name="swimming dot"/>
          <p:cNvSpPr/>
          <p:nvPr/>
        </p:nvSpPr>
        <p:spPr>
          <a:xfrm>
            <a:off x="4719218" y="2715768"/>
            <a:ext cx="146304" cy="146304"/>
          </a:xfrm>
          <a:prstGeom prst="ellipse">
            <a:avLst/>
          </a:prstGeom>
          <a:solidFill>
            <a:schemeClr val="accent2"/>
          </a:solidFill>
          <a:ln/>
        </p:spPr>
      </p:sp>
      <p:sp>
        <p:nvSpPr>
          <p:cNvPr id="10" name="swimming label"/>
          <p:cNvSpPr txBox="1"/>
          <p:nvPr/>
        </p:nvSpPr>
        <p:spPr>
          <a:xfrm>
            <a:off x="4975250"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SWIMMING · POOL</a:t>
            </a:r>
            <a:endParaRPr lang="en-US" sz="1200" dirty="0"/>
          </a:p>
        </p:txBody>
      </p:sp>
      <p:sp>
        <p:nvSpPr>
          <p:cNvPr id="11" name="swimming evidence"/>
          <p:cNvSpPr txBox="1"/>
          <p:nvPr/>
        </p:nvSpPr>
        <p:spPr>
          <a:xfrm>
            <a:off x="4719218"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Melbourne 1956; swimming’s Olympic medals today</a:t>
            </a:r>
            <a:endParaRPr lang="en-US" sz="1600" dirty="0"/>
          </a:p>
        </p:txBody>
      </p:sp>
      <p:sp>
        <p:nvSpPr>
          <p:cNvPr id="12" name="surfing card"/>
          <p:cNvSpPr/>
          <p:nvPr/>
        </p:nvSpPr>
        <p:spPr>
          <a:xfrm>
            <a:off x="8066837"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13" name="surfing dot"/>
          <p:cNvSpPr/>
          <p:nvPr/>
        </p:nvSpPr>
        <p:spPr>
          <a:xfrm>
            <a:off x="8386877" y="2715768"/>
            <a:ext cx="146304" cy="146304"/>
          </a:xfrm>
          <a:prstGeom prst="ellipse">
            <a:avLst/>
          </a:prstGeom>
          <a:solidFill>
            <a:schemeClr val="accent3"/>
          </a:solidFill>
          <a:ln/>
        </p:spPr>
      </p:sp>
      <p:sp>
        <p:nvSpPr>
          <p:cNvPr id="14" name="surfing label"/>
          <p:cNvSpPr txBox="1"/>
          <p:nvPr/>
        </p:nvSpPr>
        <p:spPr>
          <a:xfrm>
            <a:off x="8642909"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SURFING · BEACH</a:t>
            </a:r>
            <a:endParaRPr lang="en-US" sz="1200" dirty="0"/>
          </a:p>
        </p:txBody>
      </p:sp>
      <p:sp>
        <p:nvSpPr>
          <p:cNvPr id="15" name="surfing evidence"/>
          <p:cNvSpPr txBox="1"/>
          <p:nvPr/>
        </p:nvSpPr>
        <p:spPr>
          <a:xfrm>
            <a:off x="8386877"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Farrelly’s world title, 1964; surfing’s Olympic debut, 2021</a:t>
            </a:r>
            <a:endParaRPr lang="en-US" sz="1600" dirty="0"/>
          </a:p>
        </p:txBody>
      </p:sp>
      <p:sp>
        <p:nvSpPr>
          <p:cNvPr id="16" name="Literature box"/>
          <p:cNvSpPr/>
          <p:nvPr/>
        </p:nvSpPr>
        <p:spPr>
          <a:xfrm>
            <a:off x="731520" y="4754880"/>
            <a:ext cx="10728655" cy="1097280"/>
          </a:xfrm>
          <a:prstGeom prst="roundRect">
            <a:avLst>
              <a:gd name="adj" fmla="val 8333"/>
            </a:avLst>
          </a:prstGeom>
          <a:solidFill>
            <a:srgbClr val="EDE6D8"/>
          </a:solidFill>
          <a:ln/>
        </p:spPr>
      </p:sp>
      <p:sp>
        <p:nvSpPr>
          <p:cNvPr id="17" name="Literature"/>
          <p:cNvSpPr txBox="1"/>
          <p:nvPr/>
        </p:nvSpPr>
        <p:spPr>
          <a:xfrm>
            <a:off x="1051560" y="4892040"/>
            <a:ext cx="10088575" cy="82296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In the literature: </a:t>
            </a:r>
            <a:pPr indent="0" marL="0">
              <a:spcAft>
                <a:spcPts val="400"/>
              </a:spcAft>
              <a:buNone/>
            </a:pPr>
            <a:r>
              <a:rPr lang="en-US" sz="1600" dirty="0">
                <a:solidFill>
                  <a:schemeClr val="tx1"/>
                </a:solidFill>
              </a:rPr>
              <a:t>Wheaton (2013); Thorpe &amp; Wheaton (2011); Hogan &amp; Norton (2000)</a:t>
            </a:r>
            <a:endParaRPr lang="en-US" sz="1600" dirty="0"/>
          </a:p>
          <a:p>
            <a:pPr indent="0" marL="0">
              <a:spcAft>
                <a:spcPts val="400"/>
              </a:spcAft>
              <a:buNone/>
            </a:pPr>
            <a:r>
              <a:rPr lang="en-US" sz="1200" dirty="0">
                <a:solidFill>
                  <a:schemeClr val="accent5"/>
                </a:solidFill>
              </a:rPr>
              <a:t>[Where these authors disagree, in one line]</a:t>
            </a:r>
            <a:endParaRPr lang="en-US" sz="1600" dirty="0"/>
          </a:p>
        </p:txBody>
      </p:sp>
      <p:sp>
        <p:nvSpPr>
          <p:cNvPr id="18"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TOPIC 4 OF 4 · RACE AND ACCESS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Pools and beaches excluded people, while national myths borrowed Pacific skill</a:t>
            </a:r>
            <a:endParaRPr lang="en-US" sz="3600" dirty="0"/>
          </a:p>
        </p:txBody>
      </p:sp>
      <p:sp>
        <p:nvSpPr>
          <p:cNvPr id="4" name="rowing card"/>
          <p:cNvSpPr/>
          <p:nvPr/>
        </p:nvSpPr>
        <p:spPr>
          <a:xfrm>
            <a:off x="731520"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5" name="rowing dot"/>
          <p:cNvSpPr/>
          <p:nvPr/>
        </p:nvSpPr>
        <p:spPr>
          <a:xfrm>
            <a:off x="1051560" y="2715768"/>
            <a:ext cx="146304" cy="146304"/>
          </a:xfrm>
          <a:prstGeom prst="ellipse">
            <a:avLst/>
          </a:prstGeom>
          <a:solidFill>
            <a:schemeClr val="accent1"/>
          </a:solidFill>
          <a:ln/>
        </p:spPr>
      </p:sp>
      <p:sp>
        <p:nvSpPr>
          <p:cNvPr id="6" name="rowing label"/>
          <p:cNvSpPr txBox="1"/>
          <p:nvPr/>
        </p:nvSpPr>
        <p:spPr>
          <a:xfrm>
            <a:off x="1307592"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ROWING · RIVER</a:t>
            </a:r>
            <a:endParaRPr lang="en-US" sz="1200" dirty="0"/>
          </a:p>
        </p:txBody>
      </p:sp>
      <p:sp>
        <p:nvSpPr>
          <p:cNvPr id="7" name="rowing evidence"/>
          <p:cNvSpPr txBox="1"/>
          <p:nvPr/>
        </p:nvSpPr>
        <p:spPr>
          <a:xfrm>
            <a:off x="1051560"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Almost no research on race and rowing: a gap worth naming</a:t>
            </a:r>
            <a:endParaRPr lang="en-US" sz="1600" dirty="0"/>
          </a:p>
        </p:txBody>
      </p:sp>
      <p:sp>
        <p:nvSpPr>
          <p:cNvPr id="8" name="swimming card"/>
          <p:cNvSpPr/>
          <p:nvPr/>
        </p:nvSpPr>
        <p:spPr>
          <a:xfrm>
            <a:off x="4399178"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9" name="swimming dot"/>
          <p:cNvSpPr/>
          <p:nvPr/>
        </p:nvSpPr>
        <p:spPr>
          <a:xfrm>
            <a:off x="4719218" y="2715768"/>
            <a:ext cx="146304" cy="146304"/>
          </a:xfrm>
          <a:prstGeom prst="ellipse">
            <a:avLst/>
          </a:prstGeom>
          <a:solidFill>
            <a:schemeClr val="accent2"/>
          </a:solidFill>
          <a:ln/>
        </p:spPr>
      </p:sp>
      <p:sp>
        <p:nvSpPr>
          <p:cNvPr id="10" name="swimming label"/>
          <p:cNvSpPr txBox="1"/>
          <p:nvPr/>
        </p:nvSpPr>
        <p:spPr>
          <a:xfrm>
            <a:off x="4975250"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SWIMMING · POOL</a:t>
            </a:r>
            <a:endParaRPr lang="en-US" sz="1200" dirty="0"/>
          </a:p>
        </p:txBody>
      </p:sp>
      <p:sp>
        <p:nvSpPr>
          <p:cNvPr id="11" name="swimming evidence"/>
          <p:cNvSpPr txBox="1"/>
          <p:nvPr/>
        </p:nvSpPr>
        <p:spPr>
          <a:xfrm>
            <a:off x="4719218"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The Moree baths and the Freedom Ride, 1965; the myth of the “Australian crawl”</a:t>
            </a:r>
            <a:endParaRPr lang="en-US" sz="1600" dirty="0"/>
          </a:p>
        </p:txBody>
      </p:sp>
      <p:sp>
        <p:nvSpPr>
          <p:cNvPr id="12" name="surfing card"/>
          <p:cNvSpPr/>
          <p:nvPr/>
        </p:nvSpPr>
        <p:spPr>
          <a:xfrm>
            <a:off x="8066837" y="2377440"/>
            <a:ext cx="3393338" cy="2148840"/>
          </a:xfrm>
          <a:prstGeom prst="roundRect">
            <a:avLst>
              <a:gd name="adj" fmla="val 4255"/>
            </a:avLst>
          </a:prstGeom>
          <a:solidFill>
            <a:schemeClr val="bg1"/>
          </a:solidFill>
          <a:ln/>
          <a:effectLst>
            <a:outerShdw sx="100000" sy="100000" kx="0" ky="0" algn="bl" rotWithShape="0" blurRad="101600" dist="25400" dir="5400000">
              <a:srgbClr val="10293A">
                <a:alpha val="8000"/>
              </a:srgbClr>
            </a:outerShdw>
          </a:effectLst>
        </p:spPr>
      </p:sp>
      <p:sp>
        <p:nvSpPr>
          <p:cNvPr id="13" name="surfing dot"/>
          <p:cNvSpPr/>
          <p:nvPr/>
        </p:nvSpPr>
        <p:spPr>
          <a:xfrm>
            <a:off x="8386877" y="2715768"/>
            <a:ext cx="146304" cy="146304"/>
          </a:xfrm>
          <a:prstGeom prst="ellipse">
            <a:avLst/>
          </a:prstGeom>
          <a:solidFill>
            <a:schemeClr val="accent3"/>
          </a:solidFill>
          <a:ln/>
        </p:spPr>
      </p:sp>
      <p:sp>
        <p:nvSpPr>
          <p:cNvPr id="14" name="surfing label"/>
          <p:cNvSpPr txBox="1"/>
          <p:nvPr/>
        </p:nvSpPr>
        <p:spPr>
          <a:xfrm>
            <a:off x="8642909" y="2651760"/>
            <a:ext cx="2497226" cy="274320"/>
          </a:xfrm>
          <a:prstGeom prst="rect">
            <a:avLst/>
          </a:prstGeom>
          <a:noFill/>
          <a:ln/>
        </p:spPr>
        <p:txBody>
          <a:bodyPr wrap="square" lIns="0" tIns="0" rIns="0" bIns="0" rtlCol="0" anchor="ctr"/>
          <a:lstStyle/>
          <a:p>
            <a:pPr indent="0" marL="0">
              <a:buNone/>
            </a:pPr>
            <a:r>
              <a:rPr lang="en-US" sz="1200" b="1" spc="200" kern="0" dirty="0">
                <a:solidFill>
                  <a:schemeClr val="tx1"/>
                </a:solidFill>
              </a:rPr>
              <a:t>SURFING · BEACH</a:t>
            </a:r>
            <a:endParaRPr lang="en-US" sz="1200" dirty="0"/>
          </a:p>
        </p:txBody>
      </p:sp>
      <p:sp>
        <p:nvSpPr>
          <p:cNvPr id="15" name="surfing evidence"/>
          <p:cNvSpPr txBox="1"/>
          <p:nvPr/>
        </p:nvSpPr>
        <p:spPr>
          <a:xfrm>
            <a:off x="8386877" y="3063240"/>
            <a:ext cx="2753258" cy="1280160"/>
          </a:xfrm>
          <a:prstGeom prst="rect">
            <a:avLst/>
          </a:prstGeom>
          <a:noFill/>
          <a:ln/>
        </p:spPr>
        <p:txBody>
          <a:bodyPr wrap="square" lIns="0" tIns="0" rIns="0" bIns="0" rtlCol="0" anchor="t"/>
          <a:lstStyle/>
          <a:p>
            <a:pPr indent="0" marL="0">
              <a:buNone/>
            </a:pPr>
            <a:r>
              <a:rPr lang="en-US" sz="1600" dirty="0">
                <a:solidFill>
                  <a:schemeClr val="tx2"/>
                </a:solidFill>
              </a:rPr>
              <a:t>Myths around Duke Kahanamoku at Freshwater, 1914; Cronulla, 2005</a:t>
            </a:r>
            <a:endParaRPr lang="en-US" sz="1600" dirty="0"/>
          </a:p>
        </p:txBody>
      </p:sp>
      <p:sp>
        <p:nvSpPr>
          <p:cNvPr id="16" name="Literature box"/>
          <p:cNvSpPr/>
          <p:nvPr/>
        </p:nvSpPr>
        <p:spPr>
          <a:xfrm>
            <a:off x="731520" y="4754880"/>
            <a:ext cx="10728655" cy="1097280"/>
          </a:xfrm>
          <a:prstGeom prst="roundRect">
            <a:avLst>
              <a:gd name="adj" fmla="val 8333"/>
            </a:avLst>
          </a:prstGeom>
          <a:solidFill>
            <a:srgbClr val="EDE6D8"/>
          </a:solidFill>
          <a:ln/>
        </p:spPr>
      </p:sp>
      <p:sp>
        <p:nvSpPr>
          <p:cNvPr id="17" name="Literature"/>
          <p:cNvSpPr txBox="1"/>
          <p:nvPr/>
        </p:nvSpPr>
        <p:spPr>
          <a:xfrm>
            <a:off x="1051560" y="4892040"/>
            <a:ext cx="10088575" cy="82296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In the literature: </a:t>
            </a:r>
            <a:pPr indent="0" marL="0">
              <a:spcAft>
                <a:spcPts val="400"/>
              </a:spcAft>
              <a:buNone/>
            </a:pPr>
            <a:r>
              <a:rPr lang="en-US" sz="1600" dirty="0">
                <a:solidFill>
                  <a:schemeClr val="tx1"/>
                </a:solidFill>
              </a:rPr>
              <a:t>Curthoys (2002); Osmond (2011); Noble (ed.) (2009)</a:t>
            </a:r>
            <a:endParaRPr lang="en-US" sz="1600" dirty="0"/>
          </a:p>
          <a:p>
            <a:pPr indent="0" marL="0">
              <a:spcAft>
                <a:spcPts val="400"/>
              </a:spcAft>
              <a:buNone/>
            </a:pPr>
            <a:r>
              <a:rPr lang="en-US" sz="1200" dirty="0">
                <a:solidFill>
                  <a:schemeClr val="accent5"/>
                </a:solidFill>
              </a:rPr>
              <a:t>[Where these authors disagree, in one line]</a:t>
            </a:r>
            <a:endParaRPr lang="en-US" sz="1600" dirty="0"/>
          </a:p>
        </p:txBody>
      </p:sp>
      <p:sp>
        <p:nvSpPr>
          <p:cNvPr id="18"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HOW WE RESEARCHED IT</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Two analyses that anyone could repeat</a:t>
            </a:r>
            <a:endParaRPr lang="en-US" sz="3600" dirty="0"/>
          </a:p>
        </p:txBody>
      </p:sp>
      <p:sp>
        <p:nvSpPr>
          <p:cNvPr id="4" name="Analysis A card"/>
          <p:cNvSpPr/>
          <p:nvPr/>
        </p:nvSpPr>
        <p:spPr>
          <a:xfrm>
            <a:off x="731520" y="2377440"/>
            <a:ext cx="5760720" cy="2606040"/>
          </a:xfrm>
          <a:prstGeom prst="roundRect">
            <a:avLst>
              <a:gd name="adj" fmla="val 3509"/>
            </a:avLst>
          </a:prstGeom>
          <a:solidFill>
            <a:schemeClr val="bg1"/>
          </a:solidFill>
          <a:ln/>
          <a:effectLst>
            <a:outerShdw sx="100000" sy="100000" kx="0" ky="0" algn="bl" rotWithShape="0" blurRad="101600" dist="25400" dir="5400000">
              <a:srgbClr val="10293A">
                <a:alpha val="8000"/>
              </a:srgbClr>
            </a:outerShdw>
          </a:effectLst>
        </p:spPr>
      </p:sp>
      <p:sp>
        <p:nvSpPr>
          <p:cNvPr id="5" name="Analysis A label"/>
          <p:cNvSpPr txBox="1"/>
          <p:nvPr/>
        </p:nvSpPr>
        <p:spPr>
          <a:xfrm>
            <a:off x="1051560" y="2606040"/>
            <a:ext cx="5120640"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A · OLD NEWSPAPERS</a:t>
            </a:r>
            <a:endParaRPr lang="en-US" sz="1200" dirty="0"/>
          </a:p>
        </p:txBody>
      </p:sp>
      <p:sp>
        <p:nvSpPr>
          <p:cNvPr id="6" name="Analysis A summary"/>
          <p:cNvSpPr txBox="1"/>
          <p:nvPr/>
        </p:nvSpPr>
        <p:spPr>
          <a:xfrm>
            <a:off x="1051560" y="2926080"/>
            <a:ext cx="5120640" cy="548640"/>
          </a:xfrm>
          <a:prstGeom prst="rect">
            <a:avLst/>
          </a:prstGeom>
          <a:noFill/>
          <a:ln/>
        </p:spPr>
        <p:txBody>
          <a:bodyPr wrap="square" lIns="0" tIns="0" rIns="0" bIns="0" rtlCol="0" anchor="t"/>
          <a:lstStyle/>
          <a:p>
            <a:pPr indent="0" marL="0">
              <a:buNone/>
            </a:pPr>
            <a:r>
              <a:rPr lang="en-US" sz="1600" dirty="0">
                <a:solidFill>
                  <a:schemeClr val="tx1"/>
                </a:solidFill>
              </a:rPr>
              <a:t>Trove Newspapers, articles only:</a:t>
            </a:r>
            <a:endParaRPr lang="en-US" sz="1600" dirty="0"/>
          </a:p>
          <a:p>
            <a:pPr indent="0" marL="0">
              <a:buNone/>
            </a:pPr>
            <a:r>
              <a:rPr lang="en-US" sz="1600" dirty="0">
                <a:solidFill>
                  <a:schemeClr val="tx1"/>
                </a:solidFill>
              </a:rPr>
              <a:t>results per decade, 1850s–1950s</a:t>
            </a:r>
            <a:endParaRPr lang="en-US" sz="1600" dirty="0"/>
          </a:p>
        </p:txBody>
      </p:sp>
      <p:sp>
        <p:nvSpPr>
          <p:cNvPr id="7" name="Trove search terms"/>
          <p:cNvSpPr txBox="1"/>
          <p:nvPr/>
        </p:nvSpPr>
        <p:spPr>
          <a:xfrm>
            <a:off x="1051560" y="3566160"/>
            <a:ext cx="5120640" cy="685800"/>
          </a:xfrm>
          <a:prstGeom prst="rect">
            <a:avLst/>
          </a:prstGeom>
          <a:noFill/>
          <a:ln/>
        </p:spPr>
        <p:txBody>
          <a:bodyPr wrap="square" lIns="0" tIns="0" rIns="0" bIns="0" rtlCol="0" anchor="t"/>
          <a:lstStyle/>
          <a:p>
            <a:pPr indent="0" marL="0">
              <a:spcAft>
                <a:spcPts val="200"/>
              </a:spcAft>
              <a:buNone/>
            </a:pPr>
            <a:r>
              <a:rPr lang="en-US" sz="1200" dirty="0">
                <a:solidFill>
                  <a:schemeClr val="tx2"/>
                </a:solidFill>
                <a:latin typeface="Courier New" pitchFamily="34" charset="0"/>
                <a:ea typeface="Courier New" pitchFamily="34" charset="-122"/>
                <a:cs typeface="Courier New" pitchFamily="34" charset="-120"/>
              </a:rPr>
              <a:t>Rowing: sculling OR "rowing club"</a:t>
            </a:r>
            <a:endParaRPr lang="en-US" sz="1200" dirty="0"/>
          </a:p>
          <a:p>
            <a:pPr indent="0" marL="0">
              <a:spcAft>
                <a:spcPts val="200"/>
              </a:spcAft>
              <a:buNone/>
            </a:pPr>
            <a:r>
              <a:rPr lang="en-US" sz="1200" dirty="0">
                <a:solidFill>
                  <a:schemeClr val="tx2"/>
                </a:solidFill>
                <a:latin typeface="Courier New" pitchFamily="34" charset="0"/>
                <a:ea typeface="Courier New" pitchFamily="34" charset="-122"/>
                <a:cs typeface="Courier New" pitchFamily="34" charset="-120"/>
              </a:rPr>
              <a:t>Swimming: "swimming club" OR "swimming carnival"</a:t>
            </a:r>
            <a:endParaRPr lang="en-US" sz="1200" dirty="0"/>
          </a:p>
          <a:p>
            <a:pPr indent="0" marL="0">
              <a:spcAft>
                <a:spcPts val="200"/>
              </a:spcAft>
              <a:buNone/>
            </a:pPr>
            <a:r>
              <a:rPr lang="en-US" sz="1200" dirty="0">
                <a:solidFill>
                  <a:schemeClr val="tx2"/>
                </a:solidFill>
                <a:latin typeface="Courier New" pitchFamily="34" charset="0"/>
                <a:ea typeface="Courier New" pitchFamily="34" charset="-122"/>
                <a:cs typeface="Courier New" pitchFamily="34" charset="-120"/>
              </a:rPr>
              <a:t>Surfing: "surf bathing" OR "surf club" OR surfboard</a:t>
            </a:r>
            <a:endParaRPr lang="en-US" sz="1200" dirty="0"/>
          </a:p>
        </p:txBody>
      </p:sp>
      <p:sp>
        <p:nvSpPr>
          <p:cNvPr id="8" name="Analysis A check"/>
          <p:cNvSpPr txBox="1"/>
          <p:nvPr/>
        </p:nvSpPr>
        <p:spPr>
          <a:xfrm>
            <a:off x="1051560" y="4343400"/>
            <a:ext cx="5120640" cy="457200"/>
          </a:xfrm>
          <a:prstGeom prst="rect">
            <a:avLst/>
          </a:prstGeom>
          <a:noFill/>
          <a:ln/>
        </p:spPr>
        <p:txBody>
          <a:bodyPr wrap="square" lIns="0" tIns="0" rIns="0" bIns="0" rtlCol="0" anchor="t"/>
          <a:lstStyle/>
          <a:p>
            <a:pPr indent="0" marL="0">
              <a:buNone/>
            </a:pPr>
            <a:r>
              <a:rPr lang="en-US" sz="1200" dirty="0">
                <a:solidFill>
                  <a:schemeClr val="accent5"/>
                </a:solidFill>
              </a:rPr>
              <a:t>Check: opened 10 results per sport to count how many were really about it</a:t>
            </a:r>
            <a:endParaRPr lang="en-US" sz="1200" dirty="0"/>
          </a:p>
        </p:txBody>
      </p:sp>
      <p:sp>
        <p:nvSpPr>
          <p:cNvPr id="9" name="Analysis B card"/>
          <p:cNvSpPr/>
          <p:nvPr/>
        </p:nvSpPr>
        <p:spPr>
          <a:xfrm>
            <a:off x="6766560" y="2377440"/>
            <a:ext cx="4693615" cy="2606040"/>
          </a:xfrm>
          <a:prstGeom prst="roundRect">
            <a:avLst>
              <a:gd name="adj" fmla="val 3509"/>
            </a:avLst>
          </a:prstGeom>
          <a:solidFill>
            <a:schemeClr val="bg1"/>
          </a:solidFill>
          <a:ln/>
          <a:effectLst>
            <a:outerShdw sx="100000" sy="100000" kx="0" ky="0" algn="bl" rotWithShape="0" blurRad="101600" dist="25400" dir="5400000">
              <a:srgbClr val="10293A">
                <a:alpha val="8000"/>
              </a:srgbClr>
            </a:outerShdw>
          </a:effectLst>
        </p:spPr>
      </p:sp>
      <p:sp>
        <p:nvSpPr>
          <p:cNvPr id="10" name="Analysis B label"/>
          <p:cNvSpPr txBox="1"/>
          <p:nvPr/>
        </p:nvSpPr>
        <p:spPr>
          <a:xfrm>
            <a:off x="7086600" y="2606040"/>
            <a:ext cx="405353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B · TODAY’S NUMBERS</a:t>
            </a:r>
            <a:endParaRPr lang="en-US" sz="1200" dirty="0"/>
          </a:p>
        </p:txBody>
      </p:sp>
      <p:sp>
        <p:nvSpPr>
          <p:cNvPr id="11" name="Analysis B summary"/>
          <p:cNvSpPr txBox="1"/>
          <p:nvPr/>
        </p:nvSpPr>
        <p:spPr>
          <a:xfrm>
            <a:off x="7086600" y="2926080"/>
            <a:ext cx="4053535" cy="548640"/>
          </a:xfrm>
          <a:prstGeom prst="rect">
            <a:avLst/>
          </a:prstGeom>
          <a:noFill/>
          <a:ln/>
        </p:spPr>
        <p:txBody>
          <a:bodyPr wrap="square" lIns="0" tIns="0" rIns="0" bIns="0" rtlCol="0" anchor="t"/>
          <a:lstStyle/>
          <a:p>
            <a:pPr indent="0" marL="0">
              <a:buNone/>
            </a:pPr>
            <a:r>
              <a:rPr lang="en-US" sz="1600" dirty="0">
                <a:solidFill>
                  <a:schemeClr val="tx1"/>
                </a:solidFill>
              </a:rPr>
              <a:t>Each sport’s share of three measures, 2024–26</a:t>
            </a:r>
            <a:endParaRPr lang="en-US" sz="1600" dirty="0"/>
          </a:p>
        </p:txBody>
      </p:sp>
      <p:sp>
        <p:nvSpPr>
          <p:cNvPr id="12" name="Today’s measures"/>
          <p:cNvSpPr txBox="1"/>
          <p:nvPr/>
        </p:nvSpPr>
        <p:spPr>
          <a:xfrm>
            <a:off x="7086600" y="3566160"/>
            <a:ext cx="4053535" cy="685800"/>
          </a:xfrm>
          <a:prstGeom prst="rect">
            <a:avLst/>
          </a:prstGeom>
          <a:noFill/>
          <a:ln/>
        </p:spPr>
        <p:txBody>
          <a:bodyPr wrap="square" lIns="0" tIns="0" rIns="0" bIns="0" rtlCol="0" anchor="t"/>
          <a:lstStyle/>
          <a:p>
            <a:pPr indent="0" marL="0">
              <a:spcAft>
                <a:spcPts val="200"/>
              </a:spcAft>
              <a:buNone/>
            </a:pPr>
            <a:r>
              <a:rPr lang="en-US" sz="1200" b="1" dirty="0">
                <a:solidFill>
                  <a:schemeClr val="tx2"/>
                </a:solidFill>
              </a:rPr>
              <a:t>Participation: </a:t>
            </a:r>
            <a:pPr indent="0" marL="0">
              <a:spcAft>
                <a:spcPts val="200"/>
              </a:spcAft>
              <a:buNone/>
            </a:pPr>
            <a:r>
              <a:rPr lang="en-US" sz="1200" dirty="0">
                <a:solidFill>
                  <a:schemeClr val="tx2"/>
                </a:solidFill>
              </a:rPr>
              <a:t>AusPlay 2024–25, adults</a:t>
            </a:r>
            <a:endParaRPr lang="en-US" sz="1200" dirty="0"/>
          </a:p>
          <a:p>
            <a:pPr indent="0" marL="0">
              <a:spcAft>
                <a:spcPts val="200"/>
              </a:spcAft>
              <a:buNone/>
            </a:pPr>
            <a:r>
              <a:rPr lang="en-US" sz="1200" b="1" dirty="0">
                <a:solidFill>
                  <a:schemeClr val="tx2"/>
                </a:solidFill>
              </a:rPr>
              <a:t>Funding: </a:t>
            </a:r>
            <a:pPr indent="0" marL="0">
              <a:spcAft>
                <a:spcPts val="200"/>
              </a:spcAft>
              <a:buNone/>
            </a:pPr>
            <a:r>
              <a:rPr lang="en-US" sz="1200" dirty="0">
                <a:solidFill>
                  <a:schemeClr val="tx2"/>
                </a:solidFill>
              </a:rPr>
              <a:t>ASC high-performance investment, 2025–26</a:t>
            </a:r>
            <a:endParaRPr lang="en-US" sz="1200" dirty="0"/>
          </a:p>
          <a:p>
            <a:pPr indent="0" marL="0">
              <a:spcAft>
                <a:spcPts val="200"/>
              </a:spcAft>
              <a:buNone/>
            </a:pPr>
            <a:r>
              <a:rPr lang="en-US" sz="1200" b="1" dirty="0">
                <a:solidFill>
                  <a:schemeClr val="tx2"/>
                </a:solidFill>
              </a:rPr>
              <a:t>Medals: </a:t>
            </a:r>
            <a:pPr indent="0" marL="0">
              <a:spcAft>
                <a:spcPts val="200"/>
              </a:spcAft>
              <a:buNone/>
            </a:pPr>
            <a:r>
              <a:rPr lang="en-US" sz="1200" dirty="0">
                <a:solidFill>
                  <a:schemeClr val="tx2"/>
                </a:solidFill>
              </a:rPr>
              <a:t>Paris 2024, from Olympedia</a:t>
            </a:r>
            <a:endParaRPr lang="en-US" sz="1200" dirty="0"/>
          </a:p>
        </p:txBody>
      </p:sp>
      <p:sp>
        <p:nvSpPr>
          <p:cNvPr id="13" name="Analysis B note"/>
          <p:cNvSpPr txBox="1"/>
          <p:nvPr/>
        </p:nvSpPr>
        <p:spPr>
          <a:xfrm>
            <a:off x="7086600" y="4343400"/>
            <a:ext cx="4053535" cy="457200"/>
          </a:xfrm>
          <a:prstGeom prst="rect">
            <a:avLst/>
          </a:prstGeom>
          <a:noFill/>
          <a:ln/>
        </p:spPr>
        <p:txBody>
          <a:bodyPr wrap="square" lIns="0" tIns="0" rIns="0" bIns="0" rtlCol="0" anchor="t"/>
          <a:lstStyle/>
          <a:p>
            <a:pPr indent="0" marL="0">
              <a:buNone/>
            </a:pPr>
            <a:r>
              <a:rPr lang="en-US" sz="1200" dirty="0">
                <a:solidFill>
                  <a:schemeClr val="accent5"/>
                </a:solidFill>
              </a:rPr>
              <a:t>Compared as broad shares, not raw totals</a:t>
            </a:r>
            <a:endParaRPr lang="en-US" sz="1200" dirty="0"/>
          </a:p>
        </p:txBody>
      </p:sp>
      <p:sp>
        <p:nvSpPr>
          <p:cNvPr id="14" name="Literature box"/>
          <p:cNvSpPr/>
          <p:nvPr/>
        </p:nvSpPr>
        <p:spPr>
          <a:xfrm>
            <a:off x="731520" y="5212080"/>
            <a:ext cx="10728655" cy="731520"/>
          </a:xfrm>
          <a:prstGeom prst="roundRect">
            <a:avLst>
              <a:gd name="adj" fmla="val 12500"/>
            </a:avLst>
          </a:prstGeom>
          <a:solidFill>
            <a:srgbClr val="EDE6D8"/>
          </a:solidFill>
          <a:ln/>
        </p:spPr>
      </p:sp>
      <p:sp>
        <p:nvSpPr>
          <p:cNvPr id="15" name="Literature method"/>
          <p:cNvSpPr txBox="1"/>
          <p:nvPr/>
        </p:nvSpPr>
        <p:spPr>
          <a:xfrm>
            <a:off x="1051560" y="5257800"/>
            <a:ext cx="10088575" cy="640080"/>
          </a:xfrm>
          <a:prstGeom prst="rect">
            <a:avLst/>
          </a:prstGeom>
          <a:noFill/>
          <a:ln/>
        </p:spPr>
        <p:txBody>
          <a:bodyPr wrap="square" lIns="0" tIns="0" rIns="0" bIns="0" rtlCol="0" anchor="ctr"/>
          <a:lstStyle/>
          <a:p>
            <a:pPr indent="0" marL="0">
              <a:buNone/>
            </a:pPr>
            <a:r>
              <a:rPr lang="en-US" sz="1600" b="1" dirty="0">
                <a:solidFill>
                  <a:schemeClr val="tx1"/>
                </a:solidFill>
              </a:rPr>
              <a:t>Literature: </a:t>
            </a:r>
            <a:pPr indent="0" marL="0">
              <a:buNone/>
            </a:pPr>
            <a:r>
              <a:rPr lang="en-US" sz="1600" dirty="0">
                <a:solidFill>
                  <a:schemeClr val="tx1"/>
                </a:solidFill>
              </a:rPr>
              <a:t>three sources per topic from the USyd Library, SPORTDiscus and JSTOR, read for each author’s main claim</a:t>
            </a:r>
            <a:endParaRPr lang="en-US" sz="1600" dirty="0"/>
          </a:p>
        </p:txBody>
      </p:sp>
      <p:sp>
        <p:nvSpPr>
          <p:cNvPr id="16"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FINDING A · OLD NEWSPAPERS, 1850S–1950S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[Your claim from the counts, e.g. “Newspapers cared about rowing first”]</a:t>
            </a:r>
            <a:endParaRPr lang="en-US" sz="3600" dirty="0"/>
          </a:p>
        </p:txBody>
      </p:sp>
      <p:graphicFrame>
        <p:nvGraphicFramePr>
          <p:cNvPr id="4" name="Finding A chart" descr="Stacked column chart, one column per decade from the 1850s to the 1950s, showing rowing, swimming and surfing as shares of Trove results. Data still to be entered."/>
          <p:cNvGraphicFramePr/>
          <p:nvPr/>
        </p:nvGraphicFramePr>
        <p:xfrm>
          <a:off x="731520" y="2377440"/>
          <a:ext cx="6675120" cy="3611880"/>
        </p:xfrm>
        <a:graphic xmlns:a="http://schemas.openxmlformats.org/drawingml/2006/main">
          <a:graphicData uri="http://schemas.openxmlformats.org/drawingml/2006/chart">
            <c:chart xmlns:c="http://schemas.openxmlformats.org/drawingml/2006/chart" r:id="rId1"/>
          </a:graphicData>
        </a:graphic>
      </p:graphicFrame>
      <p:sp>
        <p:nvSpPr>
          <p:cNvPr id="5" name="Chart placeholder note"/>
          <p:cNvSpPr txBox="1"/>
          <p:nvPr/>
        </p:nvSpPr>
        <p:spPr>
          <a:xfrm>
            <a:off x="1645920" y="3611880"/>
            <a:ext cx="4846320" cy="868680"/>
          </a:xfrm>
          <a:prstGeom prst="rect">
            <a:avLst/>
          </a:prstGeom>
          <a:solidFill>
            <a:schemeClr val="bg2"/>
          </a:solidFill>
          <a:ln w="12700">
            <a:solidFill>
              <a:schemeClr val="accent5"/>
            </a:solidFill>
            <a:prstDash val="dash"/>
          </a:ln>
        </p:spPr>
        <p:txBody>
          <a:bodyPr wrap="square" lIns="1524" tIns="1524" rIns="1524" bIns="1524" rtlCol="0" anchor="ctr"/>
          <a:lstStyle/>
          <a:p>
            <a:pPr algn="ctr" indent="0" marL="0">
              <a:buNone/>
            </a:pPr>
            <a:r>
              <a:rPr lang="en-US" sz="1200" dirty="0">
                <a:solidFill>
                  <a:schemeClr val="tx2"/>
                </a:solidFill>
              </a:rPr>
              <a:t>[Enter your Trove counts per decade: right-click the chart, choose Edit Data, then delete this note]</a:t>
            </a:r>
            <a:endParaRPr lang="en-US" sz="1200" dirty="0"/>
          </a:p>
        </p:txBody>
      </p:sp>
      <p:sp>
        <p:nvSpPr>
          <p:cNvPr id="6" name="WHAT IT SHOWS label"/>
          <p:cNvSpPr txBox="1"/>
          <p:nvPr/>
        </p:nvSpPr>
        <p:spPr>
          <a:xfrm>
            <a:off x="7772400" y="2377440"/>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WHAT IT SHOWS</a:t>
            </a:r>
            <a:endParaRPr lang="en-US" sz="1200" dirty="0"/>
          </a:p>
        </p:txBody>
      </p:sp>
      <p:sp>
        <p:nvSpPr>
          <p:cNvPr id="7" name="WHAT IT SHOWS"/>
          <p:cNvSpPr txBox="1"/>
          <p:nvPr/>
        </p:nvSpPr>
        <p:spPr>
          <a:xfrm>
            <a:off x="7772400" y="2670048"/>
            <a:ext cx="3687775" cy="594360"/>
          </a:xfrm>
          <a:prstGeom prst="rect">
            <a:avLst/>
          </a:prstGeom>
          <a:noFill/>
          <a:ln/>
        </p:spPr>
        <p:txBody>
          <a:bodyPr wrap="square" lIns="0" tIns="0" rIns="0" bIns="0" rtlCol="0" anchor="t"/>
          <a:lstStyle/>
          <a:p>
            <a:pPr indent="0" marL="0">
              <a:buNone/>
            </a:pPr>
            <a:r>
              <a:rPr lang="en-US" sz="1600" dirty="0">
                <a:solidFill>
                  <a:schemeClr val="tx2"/>
                </a:solidFill>
              </a:rPr>
              <a:t>[One sentence: which sport led, and when that changed]</a:t>
            </a:r>
            <a:endParaRPr lang="en-US" sz="1600" dirty="0"/>
          </a:p>
        </p:txBody>
      </p:sp>
      <p:sp>
        <p:nvSpPr>
          <p:cNvPr id="8" name="WHAT SURPRISED US label"/>
          <p:cNvSpPr txBox="1"/>
          <p:nvPr/>
        </p:nvSpPr>
        <p:spPr>
          <a:xfrm>
            <a:off x="7772400" y="3493008"/>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WHAT SURPRISED US</a:t>
            </a:r>
            <a:endParaRPr lang="en-US" sz="1200" dirty="0"/>
          </a:p>
        </p:txBody>
      </p:sp>
      <p:sp>
        <p:nvSpPr>
          <p:cNvPr id="9" name="WHAT SURPRISED US"/>
          <p:cNvSpPr txBox="1"/>
          <p:nvPr/>
        </p:nvSpPr>
        <p:spPr>
          <a:xfrm>
            <a:off x="7772400" y="3785616"/>
            <a:ext cx="3687775" cy="320040"/>
          </a:xfrm>
          <a:prstGeom prst="rect">
            <a:avLst/>
          </a:prstGeom>
          <a:noFill/>
          <a:ln/>
        </p:spPr>
        <p:txBody>
          <a:bodyPr wrap="square" lIns="0" tIns="0" rIns="0" bIns="0" rtlCol="0" anchor="t"/>
          <a:lstStyle/>
          <a:p>
            <a:pPr indent="0" marL="0">
              <a:buNone/>
            </a:pPr>
            <a:r>
              <a:rPr lang="en-US" sz="1600" dirty="0">
                <a:solidFill>
                  <a:schemeClr val="tx2"/>
                </a:solidFill>
              </a:rPr>
              <a:t>[Anything you did not expect]</a:t>
            </a:r>
            <a:endParaRPr lang="en-US" sz="1600" dirty="0"/>
          </a:p>
        </p:txBody>
      </p:sp>
      <p:sp>
        <p:nvSpPr>
          <p:cNvPr id="10" name="LIMIT label"/>
          <p:cNvSpPr txBox="1"/>
          <p:nvPr/>
        </p:nvSpPr>
        <p:spPr>
          <a:xfrm>
            <a:off x="7772400" y="4334256"/>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LIMIT</a:t>
            </a:r>
            <a:endParaRPr lang="en-US" sz="1200" dirty="0"/>
          </a:p>
        </p:txBody>
      </p:sp>
      <p:sp>
        <p:nvSpPr>
          <p:cNvPr id="11" name="LIMIT"/>
          <p:cNvSpPr txBox="1"/>
          <p:nvPr/>
        </p:nvSpPr>
        <p:spPr>
          <a:xfrm>
            <a:off x="7772400" y="4626864"/>
            <a:ext cx="3687775" cy="594360"/>
          </a:xfrm>
          <a:prstGeom prst="rect">
            <a:avLst/>
          </a:prstGeom>
          <a:noFill/>
          <a:ln/>
        </p:spPr>
        <p:txBody>
          <a:bodyPr wrap="square" lIns="0" tIns="0" rIns="0" bIns="0" rtlCol="0" anchor="t"/>
          <a:lstStyle/>
          <a:p>
            <a:pPr indent="0" marL="0">
              <a:buNone/>
            </a:pPr>
            <a:r>
              <a:rPr lang="en-US" sz="1600" dirty="0">
                <a:solidFill>
                  <a:schemeClr val="tx2"/>
                </a:solidFill>
              </a:rPr>
              <a:t>Trove mostly stops at 1954, so the 1960s surf boom is missing</a:t>
            </a:r>
            <a:endParaRPr lang="en-US" sz="1600" dirty="0"/>
          </a:p>
        </p:txBody>
      </p:sp>
      <p:sp>
        <p:nvSpPr>
          <p:cNvPr id="12"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Source: Trove Newspapers (National Library of Australia), Article category, searched [date]</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FINDING B · TODAY’S NUMBERS, 2024–26</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[Your claim from the data, e.g. “The image is the beach’s, the medals the pool’s”]</a:t>
            </a:r>
            <a:endParaRPr lang="en-US" sz="3600" dirty="0"/>
          </a:p>
        </p:txBody>
      </p:sp>
      <p:graphicFrame>
        <p:nvGraphicFramePr>
          <p:cNvPr id="4" name="Finding B chart" descr="Stacked bar chart with three bars, participation, high-performance funding and Paris 2024 medals, each split into rowing, swimming and surfing shares. Data still to be entered."/>
          <p:cNvGraphicFramePr/>
          <p:nvPr/>
        </p:nvGraphicFramePr>
        <p:xfrm>
          <a:off x="731520" y="2377440"/>
          <a:ext cx="6675120" cy="3611880"/>
        </p:xfrm>
        <a:graphic xmlns:a="http://schemas.openxmlformats.org/drawingml/2006/main">
          <a:graphicData uri="http://schemas.openxmlformats.org/drawingml/2006/chart">
            <c:chart xmlns:c="http://schemas.openxmlformats.org/drawingml/2006/chart" r:id="rId1"/>
          </a:graphicData>
        </a:graphic>
      </p:graphicFrame>
      <p:sp>
        <p:nvSpPr>
          <p:cNvPr id="5" name="Chart placeholder note"/>
          <p:cNvSpPr txBox="1"/>
          <p:nvPr/>
        </p:nvSpPr>
        <p:spPr>
          <a:xfrm>
            <a:off x="3063240" y="4069080"/>
            <a:ext cx="4114800" cy="868680"/>
          </a:xfrm>
          <a:prstGeom prst="rect">
            <a:avLst/>
          </a:prstGeom>
          <a:solidFill>
            <a:schemeClr val="bg2"/>
          </a:solidFill>
          <a:ln w="12700">
            <a:solidFill>
              <a:schemeClr val="accent5"/>
            </a:solidFill>
            <a:prstDash val="dash"/>
          </a:ln>
        </p:spPr>
        <p:txBody>
          <a:bodyPr wrap="square" lIns="1524" tIns="1524" rIns="1524" bIns="1524" rtlCol="0" anchor="ctr"/>
          <a:lstStyle/>
          <a:p>
            <a:pPr algn="ctr" indent="0" marL="0">
              <a:buNone/>
            </a:pPr>
            <a:r>
              <a:rPr lang="en-US" sz="1200" dirty="0">
                <a:solidFill>
                  <a:schemeClr val="tx2"/>
                </a:solidFill>
              </a:rPr>
              <a:t>[Enter participation %, funding $ and medal counts: right-click the chart, choose Edit Data, then delete this note]</a:t>
            </a:r>
            <a:endParaRPr lang="en-US" sz="1200" dirty="0"/>
          </a:p>
        </p:txBody>
      </p:sp>
      <p:sp>
        <p:nvSpPr>
          <p:cNvPr id="6" name="WHAT IT SHOWS label"/>
          <p:cNvSpPr txBox="1"/>
          <p:nvPr/>
        </p:nvSpPr>
        <p:spPr>
          <a:xfrm>
            <a:off x="7772400" y="2377440"/>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WHAT IT SHOWS</a:t>
            </a:r>
            <a:endParaRPr lang="en-US" sz="1200" dirty="0"/>
          </a:p>
        </p:txBody>
      </p:sp>
      <p:sp>
        <p:nvSpPr>
          <p:cNvPr id="7" name="WHAT IT SHOWS"/>
          <p:cNvSpPr txBox="1"/>
          <p:nvPr/>
        </p:nvSpPr>
        <p:spPr>
          <a:xfrm>
            <a:off x="7772400" y="2670048"/>
            <a:ext cx="3687775" cy="594360"/>
          </a:xfrm>
          <a:prstGeom prst="rect">
            <a:avLst/>
          </a:prstGeom>
          <a:noFill/>
          <a:ln/>
        </p:spPr>
        <p:txBody>
          <a:bodyPr wrap="square" lIns="0" tIns="0" rIns="0" bIns="0" rtlCol="0" anchor="t"/>
          <a:lstStyle/>
          <a:p>
            <a:pPr indent="0" marL="0">
              <a:buNone/>
            </a:pPr>
            <a:r>
              <a:rPr lang="en-US" sz="1600" dirty="0">
                <a:solidFill>
                  <a:schemeClr val="tx2"/>
                </a:solidFill>
              </a:rPr>
              <a:t>[One sentence: does the pool lead on all three?]</a:t>
            </a:r>
            <a:endParaRPr lang="en-US" sz="1600" dirty="0"/>
          </a:p>
        </p:txBody>
      </p:sp>
      <p:sp>
        <p:nvSpPr>
          <p:cNvPr id="8" name="WHAT SURPRISED US label"/>
          <p:cNvSpPr txBox="1"/>
          <p:nvPr/>
        </p:nvSpPr>
        <p:spPr>
          <a:xfrm>
            <a:off x="7772400" y="3493008"/>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WHAT SURPRISED US</a:t>
            </a:r>
            <a:endParaRPr lang="en-US" sz="1200" dirty="0"/>
          </a:p>
        </p:txBody>
      </p:sp>
      <p:sp>
        <p:nvSpPr>
          <p:cNvPr id="9" name="WHAT SURPRISED US"/>
          <p:cNvSpPr txBox="1"/>
          <p:nvPr/>
        </p:nvSpPr>
        <p:spPr>
          <a:xfrm>
            <a:off x="7772400" y="3785616"/>
            <a:ext cx="3687775" cy="320040"/>
          </a:xfrm>
          <a:prstGeom prst="rect">
            <a:avLst/>
          </a:prstGeom>
          <a:noFill/>
          <a:ln/>
        </p:spPr>
        <p:txBody>
          <a:bodyPr wrap="square" lIns="0" tIns="0" rIns="0" bIns="0" rtlCol="0" anchor="t"/>
          <a:lstStyle/>
          <a:p>
            <a:pPr indent="0" marL="0">
              <a:buNone/>
            </a:pPr>
            <a:r>
              <a:rPr lang="en-US" sz="1600" dirty="0">
                <a:solidFill>
                  <a:schemeClr val="tx2"/>
                </a:solidFill>
              </a:rPr>
              <a:t>[Anything you did not expect]</a:t>
            </a:r>
            <a:endParaRPr lang="en-US" sz="1600" dirty="0"/>
          </a:p>
        </p:txBody>
      </p:sp>
      <p:sp>
        <p:nvSpPr>
          <p:cNvPr id="10" name="LIMITS label"/>
          <p:cNvSpPr txBox="1"/>
          <p:nvPr/>
        </p:nvSpPr>
        <p:spPr>
          <a:xfrm>
            <a:off x="7772400" y="4334256"/>
            <a:ext cx="3687775"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LIMITS</a:t>
            </a:r>
            <a:endParaRPr lang="en-US" sz="1200" dirty="0"/>
          </a:p>
        </p:txBody>
      </p:sp>
      <p:sp>
        <p:nvSpPr>
          <p:cNvPr id="11" name="LIMITS"/>
          <p:cNvSpPr txBox="1"/>
          <p:nvPr/>
        </p:nvSpPr>
        <p:spPr>
          <a:xfrm>
            <a:off x="7772400" y="4626864"/>
            <a:ext cx="3687775" cy="1143000"/>
          </a:xfrm>
          <a:prstGeom prst="rect">
            <a:avLst/>
          </a:prstGeom>
          <a:noFill/>
          <a:ln/>
        </p:spPr>
        <p:txBody>
          <a:bodyPr wrap="square" lIns="0" tIns="0" rIns="0" bIns="0" rtlCol="0" anchor="t"/>
          <a:lstStyle/>
          <a:p>
            <a:pPr indent="0" marL="0">
              <a:buNone/>
            </a:pPr>
            <a:r>
              <a:rPr lang="en-US" sz="1600" dirty="0">
                <a:solidFill>
                  <a:schemeClr val="tx2"/>
                </a:solidFill>
              </a:rPr>
              <a:t>Self-reported data; a small rowing sample; swimming has far more Olympic events; funding leaves out schools and private money</a:t>
            </a:r>
            <a:endParaRPr lang="en-US" sz="1600" dirty="0"/>
          </a:p>
        </p:txBody>
      </p:sp>
      <p:sp>
        <p:nvSpPr>
          <p:cNvPr id="12"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Sources: AusPlay 2024–25 (ASC); ASC investment summary 2025–26; Olympedia, Paris 2024</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WHAT EACH TOPIC SHOWS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bg2"/>
                </a:solidFill>
              </a:rPr>
              <a:t>Each sport tells a different story about who belongs</a:t>
            </a:r>
            <a:endParaRPr lang="en-US" sz="3600" dirty="0"/>
          </a:p>
        </p:txBody>
      </p:sp>
      <p:graphicFrame>
        <p:nvGraphicFramePr>
          <p:cNvPr id="13" name="Answer table"/>
          <p:cNvGraphicFramePr>
            <a:graphicFrameLocks noGrp="1"/>
          </p:cNvGraphicFramePr>
          <p:nvPr>
            <p:extLst>
              <p:ext uri="{D42A27DB-BD31-4B8C-83A1-F6EECF244321}">
                <p14:modId xmlns:p14="http://schemas.microsoft.com/office/powerpoint/2010/main" val="1579011935"/>
              </p:ext>
            </p:extLst>
          </p:nvPr>
        </p:nvGraphicFramePr>
        <p:xfrm>
          <a:off x="731520" y="2377440"/>
          <a:ext cx="10728655" cy="914400"/>
        </p:xfrm>
        <a:graphic>
          <a:graphicData uri="http://schemas.openxmlformats.org/drawingml/2006/table">
            <a:tbl>
              <a:tblPr/>
              <a:tblGrid>
                <a:gridCol w="3291840"/>
                <a:gridCol w="7436815"/>
              </a:tblGrid>
              <a:tr h="566928">
                <a:tc>
                  <a:txBody>
                    <a:bodyPr/>
                    <a:lstStyle/>
                    <a:p>
                      <a:pPr indent="0" marL="0">
                        <a:buNone/>
                      </a:pPr>
                      <a:r>
                        <a:rPr lang="en-US" sz="1600" b="1" dirty="0">
                          <a:solidFill>
                            <a:schemeClr val="accent3"/>
                          </a:solidFill>
                        </a:rPr>
                        <a:t>1 · Class and institutions</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c>
                  <a:txBody>
                    <a:bodyPr/>
                    <a:lstStyle/>
                    <a:p>
                      <a:pPr indent="0" marL="0">
                        <a:buNone/>
                      </a:pPr>
                      <a:r>
                        <a:rPr lang="en-US" sz="1600" dirty="0">
                          <a:solidFill>
                            <a:schemeClr val="bg2"/>
                          </a:solidFill>
                        </a:rPr>
                        <a:t>Rowing’s amateur rules kept workers out</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r>
              <a:tr h="566928">
                <a:tc>
                  <a:txBody>
                    <a:bodyPr/>
                    <a:lstStyle/>
                    <a:p>
                      <a:pPr indent="0" marL="0">
                        <a:buNone/>
                      </a:pPr>
                      <a:r>
                        <a:rPr lang="en-US" sz="1600" b="1" dirty="0">
                          <a:solidFill>
                            <a:schemeClr val="accent3"/>
                          </a:solidFill>
                        </a:rPr>
                        <a:t>2 · Bodies and gender</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c>
                  <a:txBody>
                    <a:bodyPr/>
                    <a:lstStyle/>
                    <a:p>
                      <a:pPr indent="0" marL="0">
                        <a:buNone/>
                      </a:pPr>
                      <a:r>
                        <a:rPr lang="en-US" sz="1600" dirty="0">
                          <a:solidFill>
                            <a:schemeClr val="bg2"/>
                          </a:solidFill>
                        </a:rPr>
                        <a:t>Women had to fight their way into all three</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r>
              <a:tr h="566928">
                <a:tc>
                  <a:txBody>
                    <a:bodyPr/>
                    <a:lstStyle/>
                    <a:p>
                      <a:pPr indent="0" marL="0">
                        <a:buNone/>
                      </a:pPr>
                      <a:r>
                        <a:rPr lang="en-US" sz="1600" b="1" dirty="0">
                          <a:solidFill>
                            <a:schemeClr val="accent3"/>
                          </a:solidFill>
                        </a:rPr>
                        <a:t>3 · National pride</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c>
                  <a:txBody>
                    <a:bodyPr/>
                    <a:lstStyle/>
                    <a:p>
                      <a:pPr indent="0" marL="0">
                        <a:buNone/>
                      </a:pPr>
                      <a:r>
                        <a:rPr lang="en-US" sz="1600" dirty="0">
                          <a:solidFill>
                            <a:schemeClr val="bg2"/>
                          </a:solidFill>
                        </a:rPr>
                        <a:t>The medals mostly come from the pool, not the beach</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r>
              <a:tr h="566928">
                <a:tc>
                  <a:txBody>
                    <a:bodyPr/>
                    <a:lstStyle/>
                    <a:p>
                      <a:pPr indent="0" marL="0">
                        <a:buNone/>
                      </a:pPr>
                      <a:r>
                        <a:rPr lang="en-US" sz="1600" b="1" dirty="0">
                          <a:solidFill>
                            <a:schemeClr val="accent3"/>
                          </a:solidFill>
                        </a:rPr>
                        <a:t>4 · Race and access</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c>
                  <a:txBody>
                    <a:bodyPr/>
                    <a:lstStyle/>
                    <a:p>
                      <a:pPr indent="0" marL="0">
                        <a:buNone/>
                      </a:pPr>
                      <a:r>
                        <a:rPr lang="en-US" sz="1600" dirty="0">
                          <a:solidFill>
                            <a:schemeClr val="bg2"/>
                          </a:solidFill>
                        </a:rPr>
                        <a:t>Pools and beaches have both been used to exclude</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r>
              <a:tr h="566928">
                <a:tc>
                  <a:txBody>
                    <a:bodyPr/>
                    <a:lstStyle/>
                    <a:p>
                      <a:pPr indent="0" marL="0">
                        <a:buNone/>
                      </a:pPr>
                      <a:r>
                        <a:rPr lang="en-US" sz="1600" b="1" dirty="0">
                          <a:solidFill>
                            <a:schemeClr val="accent6"/>
                          </a:solidFill>
                        </a:rPr>
                        <a:t>Our data</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c>
                  <a:txBody>
                    <a:bodyPr/>
                    <a:lstStyle/>
                    <a:p>
                      <a:pPr indent="0" marL="0">
                        <a:buNone/>
                      </a:pPr>
                      <a:r>
                        <a:rPr lang="en-US" sz="1600" dirty="0">
                          <a:solidFill>
                            <a:schemeClr val="bg2"/>
                          </a:solidFill>
                        </a:rPr>
                        <a:t>Newspapers show [finding A]; today’s numbers show [finding B]</a:t>
                      </a:r>
                      <a:endParaRPr lang="en-US" sz="1600" dirty="0"/>
                    </a:p>
                  </a:txBody>
                  <a:tcPr marL="0" marR="76200" marT="50800" marB="50800" anchor="ctr">
                    <a:lnL w="0" cap="flat" cmpd="sng" algn="ctr">
                      <a:noFill/>
                    </a:lnL>
                    <a:lnR w="0" cap="flat" cmpd="sng" algn="ctr">
                      <a:noFill/>
                    </a:lnR>
                    <a:lnT w="19050" cap="flat" cmpd="sng" algn="ctr">
                      <a:solidFill>
                        <a:srgbClr val="2D4A5C"/>
                      </a:solidFill>
                      <a:prstDash val="solid"/>
                      <a:round/>
                      <a:headEnd type="none" w="med" len="med"/>
                      <a:tailEnd type="none" w="med" len="med"/>
                    </a:lnT>
                    <a:lnB w="19050" cap="flat" cmpd="sng" algn="ctr">
                      <a:solidFill>
                        <a:srgbClr val="2D4A5C"/>
                      </a:solidFill>
                      <a:prstDash val="solid"/>
                      <a:round/>
                      <a:headEnd type="none" w="med" len="med"/>
                      <a:tailEnd type="none" w="med" len="med"/>
                    </a:lnB>
                  </a:tcPr>
                </a:tc>
              </a:tr>
            </a:tbl>
          </a:graphicData>
        </a:graphic>
      </p:graphicFrame>
      <p:sp>
        <p:nvSpPr>
          <p:cNvPr id="5"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6"/>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728655" cy="320040"/>
          </a:xfrm>
          <a:prstGeom prst="rect">
            <a:avLst/>
          </a:prstGeom>
          <a:noFill/>
          <a:ln/>
        </p:spPr>
        <p:txBody>
          <a:bodyPr wrap="square" lIns="0" tIns="0" rIns="0" bIns="0" rtlCol="0" anchor="t"/>
          <a:lstStyle/>
          <a:p>
            <a:pPr algn="l" indent="0" marL="0">
              <a:buNone/>
            </a:pPr>
            <a:r>
              <a:rPr lang="en-US" sz="1200" b="1" spc="300" kern="0" dirty="0">
                <a:solidFill>
                  <a:schemeClr val="tx1"/>
                </a:solidFill>
              </a:rPr>
              <a:t>OUR UNDERSTANDING</a:t>
            </a:r>
            <a:endParaRPr lang="en-US" sz="1200" dirty="0"/>
          </a:p>
        </p:txBody>
      </p:sp>
      <p:sp>
        <p:nvSpPr>
          <p:cNvPr id="3" name="Text 0"/>
          <p:cNvSpPr/>
          <p:nvPr>
            <p:ph idx="101" type="title" hasCustomPrompt="1"/>
          </p:nvPr>
        </p:nvSpPr>
        <p:spPr>
          <a:xfrm>
            <a:off x="731520" y="1463040"/>
            <a:ext cx="10728655" cy="1874520"/>
          </a:xfrm>
          <a:prstGeom prst="rect">
            <a:avLst/>
          </a:prstGeom>
          <a:noFill/>
          <a:ln/>
        </p:spPr>
        <p:txBody>
          <a:bodyPr wrap="square" lIns="0" tIns="0" rIns="0" bIns="0" rtlCol="0" anchor="t"/>
          <a:lstStyle/>
          <a:p>
            <a:pPr algn="l" indent="0" marL="0">
              <a:buNone/>
            </a:pPr>
            <a:r>
              <a:rPr lang="en-US" sz="6000" b="1" dirty="0">
                <a:solidFill>
                  <a:schemeClr val="tx1"/>
                </a:solidFill>
              </a:rPr>
              <a:t>The “beach nation” is real, but only part of the story</a:t>
            </a:r>
            <a:endParaRPr lang="en-US" sz="6000" dirty="0"/>
          </a:p>
        </p:txBody>
      </p:sp>
      <p:sp>
        <p:nvSpPr>
          <p:cNvPr id="4" name="Understanding"/>
          <p:cNvSpPr txBox="1"/>
          <p:nvPr/>
        </p:nvSpPr>
        <p:spPr>
          <a:xfrm>
            <a:off x="731520" y="3520440"/>
            <a:ext cx="10728655" cy="822960"/>
          </a:xfrm>
          <a:prstGeom prst="rect">
            <a:avLst/>
          </a:prstGeom>
          <a:noFill/>
          <a:ln/>
        </p:spPr>
        <p:txBody>
          <a:bodyPr wrap="square" lIns="0" tIns="0" rIns="0" bIns="0" rtlCol="0" anchor="t"/>
          <a:lstStyle/>
          <a:p>
            <a:pPr indent="0" marL="0">
              <a:buNone/>
            </a:pPr>
            <a:r>
              <a:rPr lang="en-US" sz="2200" dirty="0">
                <a:solidFill>
                  <a:schemeClr val="tx1"/>
                </a:solidFill>
              </a:rPr>
              <a:t>Rowing, swimming and surfing each tell a different story about who counts as Australian.</a:t>
            </a:r>
            <a:endParaRPr lang="en-US" sz="2200" dirty="0"/>
          </a:p>
        </p:txBody>
      </p:sp>
      <p:sp>
        <p:nvSpPr>
          <p:cNvPr id="5" name="Personal close"/>
          <p:cNvSpPr txBox="1"/>
          <p:nvPr/>
        </p:nvSpPr>
        <p:spPr>
          <a:xfrm>
            <a:off x="731520" y="4526280"/>
            <a:ext cx="10728655" cy="365760"/>
          </a:xfrm>
          <a:prstGeom prst="rect">
            <a:avLst/>
          </a:prstGeom>
          <a:noFill/>
          <a:ln/>
        </p:spPr>
        <p:txBody>
          <a:bodyPr wrap="square" lIns="0" tIns="0" rIns="0" bIns="0" rtlCol="0" anchor="t"/>
          <a:lstStyle/>
          <a:p>
            <a:pPr indent="0" marL="0">
              <a:buNone/>
            </a:pPr>
            <a:r>
              <a:rPr lang="en-US" sz="1600" i="1" dirty="0">
                <a:solidFill>
                  <a:srgbClr val="3A2E1E"/>
                </a:solidFill>
                <a:latin typeface="+mj-lt" pitchFamily="34" charset="0"/>
                <a:ea typeface="+mj-lt" pitchFamily="34" charset="-122"/>
                <a:cs typeface="+mj-lt" pitchFamily="34" charset="-120"/>
              </a:rPr>
              <a:t>[Last line: personal, e.g. back to cold water in North Wales]</a:t>
            </a:r>
            <a:endParaRPr lang="en-US" sz="1600" dirty="0"/>
          </a:p>
        </p:txBody>
      </p:sp>
      <p:sp>
        <p:nvSpPr>
          <p:cNvPr id="6" name="Thanks"/>
          <p:cNvSpPr txBox="1"/>
          <p:nvPr/>
        </p:nvSpPr>
        <p:spPr>
          <a:xfrm>
            <a:off x="731520" y="5029200"/>
            <a:ext cx="10728655" cy="365760"/>
          </a:xfrm>
          <a:prstGeom prst="rect">
            <a:avLst/>
          </a:prstGeom>
          <a:noFill/>
          <a:ln/>
        </p:spPr>
        <p:txBody>
          <a:bodyPr wrap="square" lIns="0" tIns="0" rIns="0" bIns="0" rtlCol="0" anchor="t"/>
          <a:lstStyle/>
          <a:p>
            <a:pPr indent="0" marL="0">
              <a:buNone/>
            </a:pPr>
            <a:r>
              <a:rPr lang="en-US" sz="1600" b="1" dirty="0">
                <a:solidFill>
                  <a:schemeClr val="tx1"/>
                </a:solidFill>
              </a:rPr>
              <a:t>Thank you. Questions welcome.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728655" cy="320040"/>
          </a:xfrm>
          <a:prstGeom prst="rect">
            <a:avLst/>
          </a:prstGeom>
          <a:noFill/>
          <a:ln/>
        </p:spPr>
        <p:txBody>
          <a:bodyPr wrap="square" lIns="0" tIns="0" rIns="0" bIns="0" rtlCol="0" anchor="t"/>
          <a:lstStyle/>
          <a:p>
            <a:pPr algn="l" indent="0" marL="0">
              <a:buNone/>
            </a:pPr>
            <a:r>
              <a:rPr lang="en-US" sz="1200" b="1" spc="300" kern="0" dirty="0">
                <a:solidFill>
                  <a:schemeClr val="accent4"/>
                </a:solidFill>
              </a:rPr>
              <a:t>REFERENCES</a:t>
            </a:r>
            <a:endParaRPr lang="en-US" sz="1200" dirty="0"/>
          </a:p>
        </p:txBody>
      </p:sp>
      <p:sp>
        <p:nvSpPr>
          <p:cNvPr id="3" name="Text 0"/>
          <p:cNvSpPr/>
          <p:nvPr>
            <p:ph idx="101" type="title" hasCustomPrompt="1"/>
          </p:nvPr>
        </p:nvSpPr>
        <p:spPr>
          <a:xfrm>
            <a:off x="731520" y="1005840"/>
            <a:ext cx="10728655" cy="1188720"/>
          </a:xfrm>
          <a:prstGeom prst="rect">
            <a:avLst/>
          </a:prstGeom>
          <a:noFill/>
          <a:ln/>
        </p:spPr>
        <p:txBody>
          <a:bodyPr wrap="square" lIns="0" tIns="0" rIns="0" bIns="0" rtlCol="0" anchor="t"/>
          <a:lstStyle/>
          <a:p>
            <a:pPr algn="l" indent="0" marL="0">
              <a:buNone/>
            </a:pPr>
            <a:r>
              <a:rPr lang="en-US" sz="3600" b="1" dirty="0">
                <a:solidFill>
                  <a:schemeClr val="tx1"/>
                </a:solidFill>
              </a:rPr>
              <a:t>Three sources per topic, plus our data</a:t>
            </a:r>
            <a:endParaRPr lang="en-US" sz="3600" dirty="0"/>
          </a:p>
        </p:txBody>
      </p:sp>
      <p:sp>
        <p:nvSpPr>
          <p:cNvPr id="4" name="References topic 1"/>
          <p:cNvSpPr txBox="1"/>
          <p:nvPr/>
        </p:nvSpPr>
        <p:spPr>
          <a:xfrm>
            <a:off x="731520" y="2331720"/>
            <a:ext cx="5090008" cy="1645920"/>
          </a:xfrm>
          <a:prstGeom prst="rect">
            <a:avLst/>
          </a:prstGeom>
          <a:noFill/>
          <a:ln/>
        </p:spPr>
        <p:txBody>
          <a:bodyPr wrap="square" lIns="0" tIns="0" rIns="0" bIns="0" rtlCol="0" anchor="t"/>
          <a:lstStyle/>
          <a:p>
            <a:pPr indent="0" marL="0">
              <a:spcAft>
                <a:spcPts val="500"/>
              </a:spcAft>
              <a:buNone/>
            </a:pPr>
            <a:r>
              <a:rPr lang="en-US" sz="1200" b="1" spc="200" kern="0" dirty="0">
                <a:solidFill>
                  <a:schemeClr val="accent4"/>
                </a:solidFill>
              </a:rPr>
              <a:t>1 · CLASS AND INSTITUTIONS</a:t>
            </a:r>
            <a:endParaRPr lang="en-US" sz="1200" dirty="0"/>
          </a:p>
          <a:p>
            <a:pPr indent="0" marL="0">
              <a:spcAft>
                <a:spcPts val="500"/>
              </a:spcAft>
              <a:buNone/>
            </a:pPr>
            <a:r>
              <a:rPr lang="en-US" sz="1200" dirty="0">
                <a:solidFill>
                  <a:schemeClr val="tx2"/>
                </a:solidFill>
              </a:rPr>
              <a:t>Bennett, S. (1973). </a:t>
            </a:r>
            <a:pPr indent="0" marL="0">
              <a:spcAft>
                <a:spcPts val="500"/>
              </a:spcAft>
              <a:buNone/>
            </a:pPr>
            <a:r>
              <a:rPr lang="en-US" sz="1200" i="1" dirty="0">
                <a:solidFill>
                  <a:schemeClr val="tx2"/>
                </a:solidFill>
              </a:rPr>
              <a:t>The Clarence Comet</a:t>
            </a:r>
            <a:pPr indent="0" marL="0">
              <a:spcAft>
                <a:spcPts val="500"/>
              </a:spcAft>
              <a:buNone/>
            </a:pPr>
            <a:r>
              <a:rPr lang="en-US" sz="1200" dirty="0">
                <a:solidFill>
                  <a:schemeClr val="tx2"/>
                </a:solidFill>
              </a:rPr>
              <a:t>. Sydney University Press.</a:t>
            </a:r>
            <a:endParaRPr lang="en-US" sz="1200" dirty="0"/>
          </a:p>
          <a:p>
            <a:pPr indent="0" marL="0">
              <a:spcAft>
                <a:spcPts val="500"/>
              </a:spcAft>
              <a:buNone/>
            </a:pPr>
            <a:r>
              <a:rPr lang="en-US" sz="1200" dirty="0">
                <a:solidFill>
                  <a:schemeClr val="tx2"/>
                </a:solidFill>
              </a:rPr>
              <a:t>Cashman, R. (1995). </a:t>
            </a:r>
            <a:pPr indent="0" marL="0">
              <a:spcAft>
                <a:spcPts val="500"/>
              </a:spcAft>
              <a:buNone/>
            </a:pPr>
            <a:r>
              <a:rPr lang="en-US" sz="1200" i="1" dirty="0">
                <a:solidFill>
                  <a:schemeClr val="tx2"/>
                </a:solidFill>
              </a:rPr>
              <a:t>Paradise of Sport</a:t>
            </a:r>
            <a:pPr indent="0" marL="0">
              <a:spcAft>
                <a:spcPts val="500"/>
              </a:spcAft>
              <a:buNone/>
            </a:pPr>
            <a:r>
              <a:rPr lang="en-US" sz="1200" dirty="0">
                <a:solidFill>
                  <a:schemeClr val="tx2"/>
                </a:solidFill>
              </a:rPr>
              <a:t>. Oxford University Press.</a:t>
            </a:r>
            <a:endParaRPr lang="en-US" sz="1200" dirty="0"/>
          </a:p>
          <a:p>
            <a:pPr indent="0" marL="0">
              <a:spcAft>
                <a:spcPts val="500"/>
              </a:spcAft>
              <a:buNone/>
            </a:pPr>
            <a:r>
              <a:rPr lang="en-US" sz="1200" dirty="0">
                <a:solidFill>
                  <a:schemeClr val="tx2"/>
                </a:solidFill>
              </a:rPr>
              <a:t>Vamplew, W., &amp; Stoddart, B. (Eds.). (1994). </a:t>
            </a:r>
            <a:pPr indent="0" marL="0">
              <a:spcAft>
                <a:spcPts val="500"/>
              </a:spcAft>
              <a:buNone/>
            </a:pPr>
            <a:r>
              <a:rPr lang="en-US" sz="1200" i="1" dirty="0">
                <a:solidFill>
                  <a:schemeClr val="tx2"/>
                </a:solidFill>
              </a:rPr>
              <a:t>Sport in Australia: A Social History</a:t>
            </a:r>
            <a:pPr indent="0" marL="0">
              <a:spcAft>
                <a:spcPts val="500"/>
              </a:spcAft>
              <a:buNone/>
            </a:pPr>
            <a:r>
              <a:rPr lang="en-US" sz="1200" dirty="0">
                <a:solidFill>
                  <a:schemeClr val="tx2"/>
                </a:solidFill>
              </a:rPr>
              <a:t>. Cambridge University Press.</a:t>
            </a:r>
            <a:endParaRPr lang="en-US" sz="1200" dirty="0"/>
          </a:p>
        </p:txBody>
      </p:sp>
      <p:sp>
        <p:nvSpPr>
          <p:cNvPr id="5" name="References topic 2"/>
          <p:cNvSpPr txBox="1"/>
          <p:nvPr/>
        </p:nvSpPr>
        <p:spPr>
          <a:xfrm>
            <a:off x="6370168" y="2331720"/>
            <a:ext cx="5090008" cy="1645920"/>
          </a:xfrm>
          <a:prstGeom prst="rect">
            <a:avLst/>
          </a:prstGeom>
          <a:noFill/>
          <a:ln/>
        </p:spPr>
        <p:txBody>
          <a:bodyPr wrap="square" lIns="0" tIns="0" rIns="0" bIns="0" rtlCol="0" anchor="t"/>
          <a:lstStyle/>
          <a:p>
            <a:pPr indent="0" marL="0">
              <a:spcAft>
                <a:spcPts val="500"/>
              </a:spcAft>
              <a:buNone/>
            </a:pPr>
            <a:r>
              <a:rPr lang="en-US" sz="1200" b="1" spc="200" kern="0" dirty="0">
                <a:solidFill>
                  <a:schemeClr val="accent4"/>
                </a:solidFill>
              </a:rPr>
              <a:t>2 · BODIES AND GENDER</a:t>
            </a:r>
            <a:endParaRPr lang="en-US" sz="1200" dirty="0"/>
          </a:p>
          <a:p>
            <a:pPr indent="0" marL="0">
              <a:spcAft>
                <a:spcPts val="500"/>
              </a:spcAft>
              <a:buNone/>
            </a:pPr>
            <a:r>
              <a:rPr lang="en-US" sz="1200" dirty="0">
                <a:solidFill>
                  <a:schemeClr val="tx2"/>
                </a:solidFill>
              </a:rPr>
              <a:t>Booth, D. (2001). </a:t>
            </a:r>
            <a:pPr indent="0" marL="0">
              <a:spcAft>
                <a:spcPts val="500"/>
              </a:spcAft>
              <a:buNone/>
            </a:pPr>
            <a:r>
              <a:rPr lang="en-US" sz="1200" i="1" dirty="0">
                <a:solidFill>
                  <a:schemeClr val="tx2"/>
                </a:solidFill>
              </a:rPr>
              <a:t>Australian Beach Cultures</a:t>
            </a:r>
            <a:pPr indent="0" marL="0">
              <a:spcAft>
                <a:spcPts val="500"/>
              </a:spcAft>
              <a:buNone/>
            </a:pPr>
            <a:r>
              <a:rPr lang="en-US" sz="1200" dirty="0">
                <a:solidFill>
                  <a:schemeClr val="tx2"/>
                </a:solidFill>
              </a:rPr>
              <a:t>. Frank Cass.</a:t>
            </a:r>
            <a:endParaRPr lang="en-US" sz="1200" dirty="0"/>
          </a:p>
          <a:p>
            <a:pPr indent="0" marL="0">
              <a:spcAft>
                <a:spcPts val="500"/>
              </a:spcAft>
              <a:buNone/>
            </a:pPr>
            <a:r>
              <a:rPr lang="en-US" sz="1200" dirty="0">
                <a:solidFill>
                  <a:schemeClr val="tx2"/>
                </a:solidFill>
              </a:rPr>
              <a:t>Jaggard, E. (Ed.). (2006). </a:t>
            </a:r>
            <a:pPr indent="0" marL="0">
              <a:spcAft>
                <a:spcPts val="500"/>
              </a:spcAft>
              <a:buNone/>
            </a:pPr>
            <a:r>
              <a:rPr lang="en-US" sz="1200" i="1" dirty="0">
                <a:solidFill>
                  <a:schemeClr val="tx2"/>
                </a:solidFill>
              </a:rPr>
              <a:t>Between the Flags</a:t>
            </a:r>
            <a:pPr indent="0" marL="0">
              <a:spcAft>
                <a:spcPts val="500"/>
              </a:spcAft>
              <a:buNone/>
            </a:pPr>
            <a:r>
              <a:rPr lang="en-US" sz="1200" dirty="0">
                <a:solidFill>
                  <a:schemeClr val="tx2"/>
                </a:solidFill>
              </a:rPr>
              <a:t>. UNSW Press.</a:t>
            </a:r>
            <a:endParaRPr lang="en-US" sz="1200" dirty="0"/>
          </a:p>
          <a:p>
            <a:pPr indent="0" marL="0">
              <a:spcAft>
                <a:spcPts val="500"/>
              </a:spcAft>
              <a:buNone/>
            </a:pPr>
            <a:r>
              <a:rPr lang="en-US" sz="1200" dirty="0">
                <a:solidFill>
                  <a:schemeClr val="tx2"/>
                </a:solidFill>
              </a:rPr>
              <a:t>Stell, M. K. (1991). </a:t>
            </a:r>
            <a:pPr indent="0" marL="0">
              <a:spcAft>
                <a:spcPts val="500"/>
              </a:spcAft>
              <a:buNone/>
            </a:pPr>
            <a:r>
              <a:rPr lang="en-US" sz="1200" i="1" dirty="0">
                <a:solidFill>
                  <a:schemeClr val="tx2"/>
                </a:solidFill>
              </a:rPr>
              <a:t>Half the Race</a:t>
            </a:r>
            <a:pPr indent="0" marL="0">
              <a:spcAft>
                <a:spcPts val="500"/>
              </a:spcAft>
              <a:buNone/>
            </a:pPr>
            <a:r>
              <a:rPr lang="en-US" sz="1200" dirty="0">
                <a:solidFill>
                  <a:schemeClr val="tx2"/>
                </a:solidFill>
              </a:rPr>
              <a:t>. Angus &amp; Robertson.</a:t>
            </a:r>
            <a:endParaRPr lang="en-US" sz="1200" dirty="0"/>
          </a:p>
        </p:txBody>
      </p:sp>
      <p:sp>
        <p:nvSpPr>
          <p:cNvPr id="6" name="References topic 3"/>
          <p:cNvSpPr txBox="1"/>
          <p:nvPr/>
        </p:nvSpPr>
        <p:spPr>
          <a:xfrm>
            <a:off x="731520" y="4023360"/>
            <a:ext cx="5090008" cy="1645920"/>
          </a:xfrm>
          <a:prstGeom prst="rect">
            <a:avLst/>
          </a:prstGeom>
          <a:noFill/>
          <a:ln/>
        </p:spPr>
        <p:txBody>
          <a:bodyPr wrap="square" lIns="0" tIns="0" rIns="0" bIns="0" rtlCol="0" anchor="t"/>
          <a:lstStyle/>
          <a:p>
            <a:pPr indent="0" marL="0">
              <a:spcAft>
                <a:spcPts val="500"/>
              </a:spcAft>
              <a:buNone/>
            </a:pPr>
            <a:r>
              <a:rPr lang="en-US" sz="1200" b="1" spc="200" kern="0" dirty="0">
                <a:solidFill>
                  <a:schemeClr val="accent4"/>
                </a:solidFill>
              </a:rPr>
              <a:t>3 · NATIONAL PRIDE AND THE OLYMPICS</a:t>
            </a:r>
            <a:endParaRPr lang="en-US" sz="1200" dirty="0"/>
          </a:p>
          <a:p>
            <a:pPr indent="0" marL="0">
              <a:spcAft>
                <a:spcPts val="500"/>
              </a:spcAft>
              <a:buNone/>
            </a:pPr>
            <a:r>
              <a:rPr lang="en-US" sz="1200" dirty="0">
                <a:solidFill>
                  <a:schemeClr val="tx2"/>
                </a:solidFill>
              </a:rPr>
              <a:t>Hogan, K., &amp; Norton, K. (2000). The price of Olympic gold. </a:t>
            </a:r>
            <a:pPr indent="0" marL="0">
              <a:spcAft>
                <a:spcPts val="500"/>
              </a:spcAft>
              <a:buNone/>
            </a:pPr>
            <a:r>
              <a:rPr lang="en-US" sz="1200" i="1" dirty="0">
                <a:solidFill>
                  <a:schemeClr val="tx2"/>
                </a:solidFill>
              </a:rPr>
              <a:t>Journal of Science and Medicine in Sport</a:t>
            </a:r>
            <a:pPr indent="0" marL="0">
              <a:spcAft>
                <a:spcPts val="500"/>
              </a:spcAft>
              <a:buNone/>
            </a:pPr>
            <a:r>
              <a:rPr lang="en-US" sz="1200" dirty="0">
                <a:solidFill>
                  <a:schemeClr val="tx2"/>
                </a:solidFill>
              </a:rPr>
              <a:t>, 3(2).</a:t>
            </a:r>
            <a:endParaRPr lang="en-US" sz="1200" dirty="0"/>
          </a:p>
          <a:p>
            <a:pPr indent="0" marL="0">
              <a:spcAft>
                <a:spcPts val="500"/>
              </a:spcAft>
              <a:buNone/>
            </a:pPr>
            <a:r>
              <a:rPr lang="en-US" sz="1200" dirty="0">
                <a:solidFill>
                  <a:schemeClr val="tx2"/>
                </a:solidFill>
              </a:rPr>
              <a:t>Thorpe, H., &amp; Wheaton, B. (2011). ‘Generation X Games’, action sports and the Olympic movement. </a:t>
            </a:r>
            <a:pPr indent="0" marL="0">
              <a:spcAft>
                <a:spcPts val="500"/>
              </a:spcAft>
              <a:buNone/>
            </a:pPr>
            <a:r>
              <a:rPr lang="en-US" sz="1200" i="1" dirty="0">
                <a:solidFill>
                  <a:schemeClr val="tx2"/>
                </a:solidFill>
              </a:rPr>
              <a:t>Sociology</a:t>
            </a:r>
            <a:pPr indent="0" marL="0">
              <a:spcAft>
                <a:spcPts val="500"/>
              </a:spcAft>
              <a:buNone/>
            </a:pPr>
            <a:r>
              <a:rPr lang="en-US" sz="1200" dirty="0">
                <a:solidFill>
                  <a:schemeClr val="tx2"/>
                </a:solidFill>
              </a:rPr>
              <a:t>, 45(5).</a:t>
            </a:r>
            <a:endParaRPr lang="en-US" sz="1200" dirty="0"/>
          </a:p>
          <a:p>
            <a:pPr indent="0" marL="0">
              <a:spcAft>
                <a:spcPts val="500"/>
              </a:spcAft>
              <a:buNone/>
            </a:pPr>
            <a:r>
              <a:rPr lang="en-US" sz="1200" dirty="0">
                <a:solidFill>
                  <a:schemeClr val="tx2"/>
                </a:solidFill>
              </a:rPr>
              <a:t>Wheaton, B. (2013). </a:t>
            </a:r>
            <a:pPr indent="0" marL="0">
              <a:spcAft>
                <a:spcPts val="500"/>
              </a:spcAft>
              <a:buNone/>
            </a:pPr>
            <a:r>
              <a:rPr lang="en-US" sz="1200" i="1" dirty="0">
                <a:solidFill>
                  <a:schemeClr val="tx2"/>
                </a:solidFill>
              </a:rPr>
              <a:t>The Cultural Politics of Lifestyle Sports</a:t>
            </a:r>
            <a:pPr indent="0" marL="0">
              <a:spcAft>
                <a:spcPts val="500"/>
              </a:spcAft>
              <a:buNone/>
            </a:pPr>
            <a:r>
              <a:rPr lang="en-US" sz="1200" dirty="0">
                <a:solidFill>
                  <a:schemeClr val="tx2"/>
                </a:solidFill>
              </a:rPr>
              <a:t>. Routledge.</a:t>
            </a:r>
            <a:endParaRPr lang="en-US" sz="1200" dirty="0"/>
          </a:p>
        </p:txBody>
      </p:sp>
      <p:sp>
        <p:nvSpPr>
          <p:cNvPr id="7" name="References topic 4"/>
          <p:cNvSpPr txBox="1"/>
          <p:nvPr/>
        </p:nvSpPr>
        <p:spPr>
          <a:xfrm>
            <a:off x="6370168" y="4023360"/>
            <a:ext cx="5090008" cy="1645920"/>
          </a:xfrm>
          <a:prstGeom prst="rect">
            <a:avLst/>
          </a:prstGeom>
          <a:noFill/>
          <a:ln/>
        </p:spPr>
        <p:txBody>
          <a:bodyPr wrap="square" lIns="0" tIns="0" rIns="0" bIns="0" rtlCol="0" anchor="t"/>
          <a:lstStyle/>
          <a:p>
            <a:pPr indent="0" marL="0">
              <a:spcAft>
                <a:spcPts val="500"/>
              </a:spcAft>
              <a:buNone/>
            </a:pPr>
            <a:r>
              <a:rPr lang="en-US" sz="1200" b="1" spc="200" kern="0" dirty="0">
                <a:solidFill>
                  <a:schemeClr val="accent4"/>
                </a:solidFill>
              </a:rPr>
              <a:t>4 · RACE AND ACCESS</a:t>
            </a:r>
            <a:endParaRPr lang="en-US" sz="1200" dirty="0"/>
          </a:p>
          <a:p>
            <a:pPr indent="0" marL="0">
              <a:spcAft>
                <a:spcPts val="500"/>
              </a:spcAft>
              <a:buNone/>
            </a:pPr>
            <a:r>
              <a:rPr lang="en-US" sz="1200" dirty="0">
                <a:solidFill>
                  <a:schemeClr val="tx2"/>
                </a:solidFill>
              </a:rPr>
              <a:t>Curthoys, A. (2002). </a:t>
            </a:r>
            <a:pPr indent="0" marL="0">
              <a:spcAft>
                <a:spcPts val="500"/>
              </a:spcAft>
              <a:buNone/>
            </a:pPr>
            <a:r>
              <a:rPr lang="en-US" sz="1200" i="1" dirty="0">
                <a:solidFill>
                  <a:schemeClr val="tx2"/>
                </a:solidFill>
              </a:rPr>
              <a:t>Freedom Ride</a:t>
            </a:r>
            <a:pPr indent="0" marL="0">
              <a:spcAft>
                <a:spcPts val="500"/>
              </a:spcAft>
              <a:buNone/>
            </a:pPr>
            <a:r>
              <a:rPr lang="en-US" sz="1200" dirty="0">
                <a:solidFill>
                  <a:schemeClr val="tx2"/>
                </a:solidFill>
              </a:rPr>
              <a:t>. Allen &amp; Unwin.</a:t>
            </a:r>
            <a:endParaRPr lang="en-US" sz="1200" dirty="0"/>
          </a:p>
          <a:p>
            <a:pPr indent="0" marL="0">
              <a:spcAft>
                <a:spcPts val="500"/>
              </a:spcAft>
              <a:buNone/>
            </a:pPr>
            <a:r>
              <a:rPr lang="en-US" sz="1200" dirty="0">
                <a:solidFill>
                  <a:schemeClr val="tx2"/>
                </a:solidFill>
              </a:rPr>
              <a:t>Noble, G. (Ed.). (2009). </a:t>
            </a:r>
            <a:pPr indent="0" marL="0">
              <a:spcAft>
                <a:spcPts val="500"/>
              </a:spcAft>
              <a:buNone/>
            </a:pPr>
            <a:r>
              <a:rPr lang="en-US" sz="1200" i="1" dirty="0">
                <a:solidFill>
                  <a:schemeClr val="tx2"/>
                </a:solidFill>
              </a:rPr>
              <a:t>Lines in the Sand</a:t>
            </a:r>
            <a:pPr indent="0" marL="0">
              <a:spcAft>
                <a:spcPts val="500"/>
              </a:spcAft>
              <a:buNone/>
            </a:pPr>
            <a:r>
              <a:rPr lang="en-US" sz="1200" dirty="0">
                <a:solidFill>
                  <a:schemeClr val="tx2"/>
                </a:solidFill>
              </a:rPr>
              <a:t>. Institute of Criminology Press.</a:t>
            </a:r>
            <a:endParaRPr lang="en-US" sz="1200" dirty="0"/>
          </a:p>
          <a:p>
            <a:pPr indent="0" marL="0">
              <a:spcAft>
                <a:spcPts val="500"/>
              </a:spcAft>
              <a:buNone/>
            </a:pPr>
            <a:r>
              <a:rPr lang="en-US" sz="1200" dirty="0">
                <a:solidFill>
                  <a:schemeClr val="tx2"/>
                </a:solidFill>
              </a:rPr>
              <a:t>Osmond, G. (2011). Myth-making in Australian sport history. </a:t>
            </a:r>
            <a:pPr indent="0" marL="0">
              <a:spcAft>
                <a:spcPts val="500"/>
              </a:spcAft>
              <a:buNone/>
            </a:pPr>
            <a:r>
              <a:rPr lang="en-US" sz="1200" i="1" dirty="0">
                <a:solidFill>
                  <a:schemeClr val="tx2"/>
                </a:solidFill>
              </a:rPr>
              <a:t>Australian Historical Studies</a:t>
            </a:r>
            <a:pPr indent="0" marL="0">
              <a:spcAft>
                <a:spcPts val="500"/>
              </a:spcAft>
              <a:buNone/>
            </a:pPr>
            <a:r>
              <a:rPr lang="en-US" sz="1200" dirty="0">
                <a:solidFill>
                  <a:schemeClr val="tx2"/>
                </a:solidFill>
              </a:rPr>
              <a:t>, 42(2).</a:t>
            </a:r>
            <a:endParaRPr lang="en-US" sz="1200" dirty="0"/>
          </a:p>
        </p:txBody>
      </p:sp>
      <p:sp>
        <p:nvSpPr>
          <p:cNvPr id="8" name="Data sources"/>
          <p:cNvSpPr txBox="1"/>
          <p:nvPr/>
        </p:nvSpPr>
        <p:spPr>
          <a:xfrm>
            <a:off x="731520" y="5669280"/>
            <a:ext cx="10728655" cy="50292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Trove Newspapers, National Library of Australia; AusPlay 2024–25, Australian Sports Commission; ASC Investment Summary 2025–26; Olympedia, Paris 2024 results. [Add the Trickett, 2032 venue and drowning sources from slide 3.]</a:t>
            </a:r>
            <a:endParaRPr lang="en-US" sz="1200" dirty="0"/>
          </a:p>
        </p:txBody>
      </p:sp>
      <p:sp>
        <p:nvSpPr>
          <p:cNvPr id="9" name="Text 0"/>
          <p:cNvSpPr/>
          <p:nvPr>
            <p:ph idx="102" type="body" hasCustomPrompt="1"/>
          </p:nvPr>
        </p:nvSpPr>
        <p:spPr>
          <a:xfrm>
            <a:off x="731520" y="6263640"/>
            <a:ext cx="8778240" cy="274320"/>
          </a:xfrm>
          <a:prstGeom prst="rect">
            <a:avLst/>
          </a:prstGeom>
          <a:noFill/>
          <a:ln/>
        </p:spPr>
        <p:txBody>
          <a:bodyPr wrap="square" lIns="0" tIns="0" rIns="0" bIns="0" rtlCol="0" anchor="ctr"/>
          <a:lstStyle/>
          <a:p>
            <a:pPr algn="l" indent="0" marL="0">
              <a:buNone/>
            </a:pPr>
            <a:r>
              <a:rPr lang="en-US" sz="1200" dirty="0">
                <a:solidFill>
                  <a:schemeClr val="accent5"/>
                </a:solidFill>
              </a:rPr>
              <a:t>River, Pool and Beach</a:t>
            </a:r>
            <a:endParaRPr lang="en-US" sz="1200" dirty="0"/>
          </a:p>
        </p:txBody>
      </p:sp>
      <p:sp>
        <p:nvSpPr>
          <p:cNvPr id="25" name="Slide Number Placeholder 0"/>
          <p:cNvSpPr>
            <a:spLocks noGrp="1"/>
          </p:cNvSpPr>
          <p:nvPr>
            <p:ph type="sldNum" sz="quarter" idx="4294967295"/>
          </p:nvPr>
        </p:nvSpPr>
        <p:spPr>
          <a:xfrm>
            <a:off x="10545775" y="626364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River Pool Beach">
  <a:themeElements>
    <a:clrScheme name="River Pool Beach">
      <a:dk1>
        <a:srgbClr val="10293A"/>
      </a:dk1>
      <a:lt1>
        <a:srgbClr val="FBF8F2"/>
      </a:lt1>
      <a:dk2>
        <a:srgbClr val="3E4C59"/>
      </a:dk2>
      <a:lt2>
        <a:srgbClr val="F5F0E6"/>
      </a:lt2>
      <a:accent1>
        <a:srgbClr val="1F5545"/>
      </a:accent1>
      <a:accent2>
        <a:srgbClr val="1E6CA3"/>
      </a:accent2>
      <a:accent3>
        <a:srgbClr val="E0A040"/>
      </a:accent3>
      <a:accent4>
        <a:srgbClr val="9A5218"/>
      </a:accent4>
      <a:accent5>
        <a:srgbClr val="5C6B77"/>
      </a:accent5>
      <a:accent6>
        <a:srgbClr val="C9D8E0"/>
      </a:accent6>
      <a:hlink>
        <a:srgbClr val="1E6CA3"/>
      </a:hlink>
      <a:folHlink>
        <a:srgbClr val="9A5218"/>
      </a:folHlink>
    </a:clrScheme>
    <a:fontScheme name="River Pool Bea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River, Pool and Beach</dc:title>
  <dc:subject>Rowing, swimming and surfing in Australian culture</dc:subject>
  <dc:creator>Dave and [Partner]</dc:creator>
  <cp:lastModifiedBy>Dave and [Partner]</cp:lastModifiedBy>
  <cp:revision>1</cp:revision>
  <dcterms:created xsi:type="dcterms:W3CDTF">2026-10-11T09:51:05Z</dcterms:created>
  <dcterms:modified xsi:type="dcterms:W3CDTF">2026-10-11T09:51:05Z</dcterms:modified>
</cp:coreProperties>
</file>